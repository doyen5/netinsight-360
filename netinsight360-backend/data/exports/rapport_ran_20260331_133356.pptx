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Default Extension="gif" ContentType="image/gif"/>
  <Default Extension="jpg" ContentType="image/jpeg"/>
  <Default Extension="jpeg" ContentType="image/jpeg"/>
  <Default Extension="png" ContentType="image/png"/>
  <Default Extension="xlsx" ContentType="application/vnd.openxmlformats-officedocument.spreadsheetml.sheet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  <Relationship Id="rId4" Type="http://schemas.openxmlformats.org/officeDocument/2006/relationships/custom-properties" Target="docProps/custom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</p:sldIdLst>
  <p:sldSz cx="9144000" cy="6858000" type="screen4x3"/>
  <p:notesSz cx="6858000" cy="9144000"/>
  <p:defaultTextStyle>
    <a:defPPr>
      <a:defRPr lang="fr-FR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 lastView="sldView">
  <p:slideViewPr>
    <p:cSldViewPr>
      <p:cViewPr>
        <p:scale>
          <a:sx d="100" n="100"/>
          <a:sy d="100" n="100"/>
        </p:scale>
        <p:origin x="0" y="0"/>
      </p:cViewPr>
    </p:cSldViewPr>
  </p:slideViewPr>
</p:viewPr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theme" Target="theme/theme1.xml"/>
  <Relationship Id="rId3" Type="http://schemas.openxmlformats.org/officeDocument/2006/relationships/slide" Target="slides/slide1.xml"/>
  <Relationship Id="rId4" Type="http://schemas.openxmlformats.org/officeDocument/2006/relationships/slide" Target="slides/slide2.xml"/>
  <Relationship Id="rId5" Type="http://schemas.openxmlformats.org/officeDocument/2006/relationships/presProps" Target="presProps.xml"/>
  <Relationship Id="rId6" Type="http://schemas.openxmlformats.org/officeDocument/2006/relationships/viewProps" Target="viewProps.xml"/>
  <Relationship Id="rId7" Type="http://schemas.openxmlformats.org/officeDocument/2006/relationships/tableStyles" Target="tableStyles.xml"/>
</Relationships>
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463980310" r:id="rId1"/>
  </p:sldLayoutIdLst>
  <p:txStyles>
    <p:titleStyle>
      <a:lvl1pPr algn="ctr">
        <a:defRPr sz="4400" kern="1200">
          <a:solidFill>
            <a:schemeClr val="lt1"/>
          </a:solidFill>
        </a:defRPr>
      </a:lvl1pPr>
      <a:extLst/>
    </p:titleStyle>
    <p:bodyStyle>
      <a:lvl1pPr algn="ctr" indent="-324900">
        <a:defRPr sz="3200" kern="1200">
          <a:solidFill>
            <a:schemeClr val="tx1"/>
          </a:solidFill>
        </a:defRPr>
      </a:lvl1pPr>
      <a:extLst/>
    </p:bodyStyle>
    <p:otherStyle>
      <a:defPPr algn="ctr">
        <a:defRPr kern="1200">
          <a:solidFill>
            <a:schemeClr val="tx1"/>
          </a:solidFill>
        </a:defRPr>
      </a:defPPr>
      <a:extLst/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87096600000" cy="25717500000"/>
          <a:chOff x="0" y="0"/>
          <a:chExt cx="87096600000" cy="25717500000"/>
        </a:xfrm>
      </p:grpSpPr>
      <p:sp>
        <p:nvSpPr>
          <p:cNvPr id="1" name=""/>
          <p:cNvSpPr txBox="1"/>
          <p:nvPr/>
        </p:nvSpPr>
        <p:spPr>
          <a:xfrm>
            <a:off x="0" y="0"/>
            <a:ext cx="87096600000" cy="15240000000"/>
          </a:xfrm>
          <a:prstGeom prst="rect">
            <a:avLst/>
          </a:prstGeom>
          <a:solidFill>
            <a:srgbClr val="00274C">
              <a:alpha val="100.00%"/>
            </a:srgbClr>
          </a:solidFill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/>
            </a:r>
          </a:p>
        </p:txBody>
      </p:sp>
      <p:sp>
        <p:nvSpPr>
          <p:cNvPr id="2" name=""/>
          <p:cNvSpPr txBox="1"/>
          <p:nvPr/>
        </p:nvSpPr>
        <p:spPr>
          <a:xfrm>
            <a:off x="1905000000" y="1905000000"/>
            <a:ext cx="82867500000" cy="6667500000"/>
          </a:xfrm>
          <a:prstGeom prst="rect">
            <a:avLst/>
          </a:prstGeom>
          <a:noFill/>
        </p:spPr>
        <p:txBody>
          <a:bodyPr anchor="ctr" rtlCol="0" bIns="45720" lIns="91440" rIns="91440" tIns="45720">
            <a:spAutoFit/>
          </a:bodyPr>
          <a:lstStyle/>
          <a:p>
            <a:pPr algn="l" fontAlgn="ctr" marL="0" marR="0" indent="0" lvl="0">
              <a:lnSpc>
                <a:spcPct val="100%"/>
              </a:lnSpc>
            </a:pPr>
            <a:r>
              <a:rPr lang="en-US" b="1" sz="3200" spc="0" u="none">
                <a:solidFill>
                  <a:srgbClr val="FFFFFF">
                    <a:alpha val="100.00%"/>
                  </a:srgbClr>
                </a:solidFill>
                <a:latin typeface="Calibri"/>
              </a:rPr>
              <a:t><![CDATA[NetInsight 360 — Rapport KPIs RAN]]></a:t>
            </a:r>
          </a:p>
        </p:txBody>
      </p:sp>
      <p:sp>
        <p:nvSpPr>
          <p:cNvPr id="3" name=""/>
          <p:cNvSpPr txBox="1"/>
          <p:nvPr/>
        </p:nvSpPr>
        <p:spPr>
          <a:xfrm>
            <a:off x="1905000000" y="8572500000"/>
            <a:ext cx="82867500000" cy="4762500000"/>
          </a:xfrm>
          <a:prstGeom prst="rect">
            <a:avLst/>
          </a:prstGeom>
          <a:noFill/>
        </p:spPr>
        <p:txBody>
          <a:bodyPr anchor="ctr" rtlCol="0" bIns="45720" lIns="91440" rIns="91440" tIns="45720">
            <a:spAutoFit/>
          </a:bodyPr>
          <a:lstStyle/>
          <a:p>
            <a:pPr algn="l" fontAlgn="ctr" marL="0" marR="0" indent="0" lvl="0">
              <a:lnSpc>
                <a:spcPct val="100%"/>
              </a:lnSpc>
            </a:pPr>
            <a:r>
              <a:rPr lang="en-US" sz="1400" spc="0" u="none">
                <a:solidFill>
                  <a:srgbClr val="ADD8E6">
                    <a:alpha val="100.00%"/>
                  </a:srgbClr>
                </a:solidFill>
                <a:latin typeface="Calibri"/>
              </a:rPr>
              <a:t><![CDATA[Données du 2026-03-31  •  Généré le 31/03/2026  •  Domaine: RAN]]></a:t>
            </a:r>
          </a:p>
        </p:txBody>
      </p:sp>
      <p:sp>
        <p:nvSpPr>
          <p:cNvPr id="4" name=""/>
          <p:cNvSpPr txBox="1"/>
          <p:nvPr/>
        </p:nvSpPr>
        <p:spPr>
          <a:xfrm>
            <a:off x="2590800000" y="17145000000"/>
            <a:ext cx="26670000000" cy="8572500000"/>
          </a:xfrm>
          <a:prstGeom prst="rect">
            <a:avLst/>
          </a:prstGeom>
          <a:solidFill>
            <a:srgbClr val="F8F9FA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/>
            </a:r>
          </a:p>
        </p:txBody>
      </p:sp>
      <p:sp>
        <p:nvSpPr>
          <p:cNvPr id="5" name=""/>
          <p:cNvSpPr txBox="1"/>
          <p:nvPr/>
        </p:nvSpPr>
        <p:spPr>
          <a:xfrm>
            <a:off x="3067050000" y="17716500000"/>
            <a:ext cx="25717500000" cy="4762500000"/>
          </a:xfrm>
          <a:prstGeom prst="rect">
            <a:avLst/>
          </a:prstGeom>
          <a:noFill/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3600" spc="0" u="none">
                <a:solidFill>
                  <a:srgbClr val="00A3C4">
                    <a:alpha val="100.00%"/>
                  </a:srgbClr>
                </a:solidFill>
                <a:latin typeface="Calibri"/>
              </a:rPr>
              <a:t><![CDATA[2189]]></a:t>
            </a:r>
          </a:p>
        </p:txBody>
      </p:sp>
      <p:sp>
        <p:nvSpPr>
          <p:cNvPr id="6" name=""/>
          <p:cNvSpPr txBox="1"/>
          <p:nvPr/>
        </p:nvSpPr>
        <p:spPr>
          <a:xfrm>
            <a:off x="3067050000" y="22383750000"/>
            <a:ext cx="25717500000" cy="2667000000"/>
          </a:xfrm>
          <a:prstGeom prst="rect">
            <a:avLst/>
          </a:prstGeom>
          <a:noFill/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1100" spc="0" u="none">
                <a:solidFill>
                  <a:srgbClr val="6B7280">
                    <a:alpha val="100.00%"/>
                  </a:srgbClr>
                </a:solidFill>
                <a:latin typeface="Calibri"/>
              </a:rPr>
              <a:t><![CDATA[Sites supervisés]]></a:t>
            </a:r>
          </a:p>
        </p:txBody>
      </p:sp>
      <p:sp>
        <p:nvSpPr>
          <p:cNvPr id="7" name=""/>
          <p:cNvSpPr txBox="1"/>
          <p:nvPr/>
        </p:nvSpPr>
        <p:spPr>
          <a:xfrm>
            <a:off x="30213300000" y="17145000000"/>
            <a:ext cx="26670000000" cy="8572500000"/>
          </a:xfrm>
          <a:prstGeom prst="rect">
            <a:avLst/>
          </a:prstGeom>
          <a:solidFill>
            <a:srgbClr val="F8F9FA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/>
            </a:r>
          </a:p>
        </p:txBody>
      </p:sp>
      <p:sp>
        <p:nvSpPr>
          <p:cNvPr id="8" name=""/>
          <p:cNvSpPr txBox="1"/>
          <p:nvPr/>
        </p:nvSpPr>
        <p:spPr>
          <a:xfrm>
            <a:off x="30689550000" y="17716500000"/>
            <a:ext cx="25717500000" cy="4762500000"/>
          </a:xfrm>
          <a:prstGeom prst="rect">
            <a:avLst/>
          </a:prstGeom>
          <a:noFill/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3600" spc="0" u="none">
                <a:solidFill>
                  <a:srgbClr val="10B981">
                    <a:alpha val="100.00%"/>
                  </a:srgbClr>
                </a:solidFill>
                <a:latin typeface="Calibri"/>
              </a:rPr>
              <a:t><![CDATA[98.5%]]></a:t>
            </a:r>
          </a:p>
        </p:txBody>
      </p:sp>
      <p:sp>
        <p:nvSpPr>
          <p:cNvPr id="9" name=""/>
          <p:cNvSpPr txBox="1"/>
          <p:nvPr/>
        </p:nvSpPr>
        <p:spPr>
          <a:xfrm>
            <a:off x="30689550000" y="22383750000"/>
            <a:ext cx="25717500000" cy="2667000000"/>
          </a:xfrm>
          <a:prstGeom prst="rect">
            <a:avLst/>
          </a:prstGeom>
          <a:noFill/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1100" spc="0" u="none">
                <a:solidFill>
                  <a:srgbClr val="6B7280">
                    <a:alpha val="100.00%"/>
                  </a:srgbClr>
                </a:solidFill>
                <a:latin typeface="Calibri"/>
              </a:rPr>
              <a:t><![CDATA[KPI Global moyen]]></a:t>
            </a:r>
          </a:p>
        </p:txBody>
      </p:sp>
      <p:sp>
        <p:nvSpPr>
          <p:cNvPr id="10" name=""/>
          <p:cNvSpPr txBox="1"/>
          <p:nvPr/>
        </p:nvSpPr>
        <p:spPr>
          <a:xfrm>
            <a:off x="57835800000" y="17145000000"/>
            <a:ext cx="26670000000" cy="8572500000"/>
          </a:xfrm>
          <a:prstGeom prst="rect">
            <a:avLst/>
          </a:prstGeom>
          <a:solidFill>
            <a:srgbClr val="F8F9FA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/>
            </a:r>
          </a:p>
        </p:txBody>
      </p:sp>
      <p:sp>
        <p:nvSpPr>
          <p:cNvPr id="11" name=""/>
          <p:cNvSpPr txBox="1"/>
          <p:nvPr/>
        </p:nvSpPr>
        <p:spPr>
          <a:xfrm>
            <a:off x="58312050000" y="17716500000"/>
            <a:ext cx="25717500000" cy="4762500000"/>
          </a:xfrm>
          <a:prstGeom prst="rect">
            <a:avLst/>
          </a:prstGeom>
          <a:noFill/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3600" spc="0" u="none">
                <a:solidFill>
                  <a:srgbClr val="EF4444">
                    <a:alpha val="100.00%"/>
                  </a:srgbClr>
                </a:solidFill>
                <a:latin typeface="Calibri"/>
              </a:rPr>
              <a:t><![CDATA[35]]></a:t>
            </a:r>
          </a:p>
        </p:txBody>
      </p:sp>
      <p:sp>
        <p:nvSpPr>
          <p:cNvPr id="12" name=""/>
          <p:cNvSpPr txBox="1"/>
          <p:nvPr/>
        </p:nvSpPr>
        <p:spPr>
          <a:xfrm>
            <a:off x="58312050000" y="22383750000"/>
            <a:ext cx="25717500000" cy="2667000000"/>
          </a:xfrm>
          <a:prstGeom prst="rect">
            <a:avLst/>
          </a:prstGeom>
          <a:noFill/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1100" spc="0" u="none">
                <a:solidFill>
                  <a:srgbClr val="6B7280">
                    <a:alpha val="100.00%"/>
                  </a:srgbClr>
                </a:solidFill>
                <a:latin typeface="Calibri"/>
              </a:rPr>
              <a:t><![CDATA[Pires sites listés]]>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1905000000" y="762000000"/>
          <a:ext cx="84772500000" cy="100679250000"/>
          <a:chOff x="1905000000" y="762000000"/>
          <a:chExt cx="84772500000" cy="100679250000"/>
        </a:xfrm>
      </p:grpSpPr>
      <p:sp>
        <p:nvSpPr>
          <p:cNvPr id="1" name=""/>
          <p:cNvSpPr txBox="1"/>
          <p:nvPr/>
        </p:nvSpPr>
        <p:spPr>
          <a:xfrm>
            <a:off x="1905000000" y="762000000"/>
            <a:ext cx="82867500000" cy="4286250000"/>
          </a:xfrm>
          <a:prstGeom prst="rect">
            <a:avLst/>
          </a:prstGeom>
          <a:noFill/>
        </p:spPr>
        <p:txBody>
          <a:bodyPr anchor="ctr" rtlCol="0" bIns="45720" lIns="91440" rIns="91440" tIns="45720">
            <a:spAutoFit/>
          </a:bodyPr>
          <a:lstStyle/>
          <a:p>
            <a:pPr algn="l" fontAlgn="ctr" marL="0" marR="0" indent="0" lvl="0">
              <a:lnSpc>
                <a:spcPct val="100%"/>
              </a:lnSpc>
            </a:pPr>
            <a:r>
              <a:rPr lang="en-US" b="1" sz="2200" spc="0" u="none">
                <a:solidFill>
                  <a:srgbClr val="00274C">
                    <a:alpha val="100.00%"/>
                  </a:srgbClr>
                </a:solidFill>
                <a:latin typeface="Calibri"/>
              </a:rPr>
              <a:t><![CDATA[Analyse des pires sites RAN]]></a:t>
            </a:r>
          </a:p>
        </p:txBody>
      </p:sp>
      <p:sp>
        <p:nvSpPr>
          <p:cNvPr id="2" name=""/>
          <p:cNvSpPr txBox="1"/>
          <p:nvPr/>
        </p:nvSpPr>
        <p:spPr>
          <a:xfrm>
            <a:off x="1905000000" y="4762500000"/>
            <a:ext cx="82867500000" cy="2667000000"/>
          </a:xfrm>
          <a:prstGeom prst="rect">
            <a:avLst/>
          </a:prstGeom>
          <a:noFill/>
        </p:spPr>
        <p:txBody>
          <a:bodyPr anchor="ctr" rtlCol="0" bIns="45720" lIns="91440" rIns="91440" tIns="45720">
            <a:spAutoFit/>
          </a:bodyPr>
          <a:lstStyle/>
          <a:p>
            <a:pPr algn="l" fontAlgn="ctr" marL="0" marR="0" indent="0" lvl="0">
              <a:lnSpc>
                <a:spcPct val="100%"/>
              </a:lnSpc>
            </a:pPr>
            <a:r>
              <a:rPr lang="en-US" sz="1100" spc="0" u="none">
                <a:solidFill>
                  <a:srgbClr val="6B7280">
                    <a:alpha val="100.00%"/>
                  </a:srgbClr>
                </a:solidFill>
                <a:latin typeface="Calibri"/>
              </a:rPr>
              <a:t><![CDATA[Données : 2026-03-31  •  Classés par KPI Global croissant]]></a:t>
            </a:r>
          </a:p>
        </p:txBody>
      </p:sp>
      <p:sp>
        <p:nvSpPr>
          <p:cNvPr id="3" name=""/>
          <p:cNvSpPr txBox="1"/>
          <p:nvPr/>
        </p:nvSpPr>
        <p:spPr>
          <a:xfrm>
            <a:off x="1905000000" y="8096250000"/>
            <a:ext cx="2857500000" cy="2571750000"/>
          </a:xfrm>
          <a:prstGeom prst="rect">
            <a:avLst/>
          </a:prstGeom>
          <a:solidFill>
            <a:srgbClr val="00274C">
              <a:alpha val="100.00%"/>
            </a:srgbClr>
          </a:solidFill>
          <a:ln w="12700" cap="flat" cmpd="sng" algn="ctr">
            <a:solidFill>
              <a:srgbClr val="1E3A5F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900" spc="0" u="none">
                <a:solidFill>
                  <a:srgbClr val="FFFFFF">
                    <a:alpha val="100.00%"/>
                  </a:srgbClr>
                </a:solidFill>
                <a:latin typeface="Calibri"/>
              </a:rPr>
              <a:t><![CDATA[#]]></a:t>
            </a:r>
          </a:p>
        </p:txBody>
      </p:sp>
      <p:sp>
        <p:nvSpPr>
          <p:cNvPr id="4" name=""/>
          <p:cNvSpPr txBox="1"/>
          <p:nvPr/>
        </p:nvSpPr>
        <p:spPr>
          <a:xfrm>
            <a:off x="4762500000" y="8096250000"/>
            <a:ext cx="7620000000" cy="2571750000"/>
          </a:xfrm>
          <a:prstGeom prst="rect">
            <a:avLst/>
          </a:prstGeom>
          <a:solidFill>
            <a:srgbClr val="00274C">
              <a:alpha val="100.00%"/>
            </a:srgbClr>
          </a:solidFill>
          <a:ln w="12700" cap="flat" cmpd="sng" algn="ctr">
            <a:solidFill>
              <a:srgbClr val="1E3A5F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900" spc="0" u="none">
                <a:solidFill>
                  <a:srgbClr val="FFFFFF">
                    <a:alpha val="100.00%"/>
                  </a:srgbClr>
                </a:solidFill>
                <a:latin typeface="Calibri"/>
              </a:rPr>
              <a:t><![CDATA[Site ID]]></a:t>
            </a:r>
          </a:p>
        </p:txBody>
      </p:sp>
      <p:sp>
        <p:nvSpPr>
          <p:cNvPr id="5" name=""/>
          <p:cNvSpPr txBox="1"/>
          <p:nvPr/>
        </p:nvSpPr>
        <p:spPr>
          <a:xfrm>
            <a:off x="12382500000" y="8096250000"/>
            <a:ext cx="16192500000" cy="2571750000"/>
          </a:xfrm>
          <a:prstGeom prst="rect">
            <a:avLst/>
          </a:prstGeom>
          <a:solidFill>
            <a:srgbClr val="00274C">
              <a:alpha val="100.00%"/>
            </a:srgbClr>
          </a:solidFill>
          <a:ln w="12700" cap="flat" cmpd="sng" algn="ctr">
            <a:solidFill>
              <a:srgbClr val="1E3A5F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900" spc="0" u="none">
                <a:solidFill>
                  <a:srgbClr val="FFFFFF">
                    <a:alpha val="100.00%"/>
                  </a:srgbClr>
                </a:solidFill>
                <a:latin typeface="Calibri"/>
              </a:rPr>
              <a:t><![CDATA[Nom]]></a:t>
            </a:r>
          </a:p>
        </p:txBody>
      </p:sp>
      <p:sp>
        <p:nvSpPr>
          <p:cNvPr id="6" name=""/>
          <p:cNvSpPr txBox="1"/>
          <p:nvPr/>
        </p:nvSpPr>
        <p:spPr>
          <a:xfrm>
            <a:off x="28575000000" y="8096250000"/>
            <a:ext cx="6667500000" cy="2571750000"/>
          </a:xfrm>
          <a:prstGeom prst="rect">
            <a:avLst/>
          </a:prstGeom>
          <a:solidFill>
            <a:srgbClr val="00274C">
              <a:alpha val="100.00%"/>
            </a:srgbClr>
          </a:solidFill>
          <a:ln w="12700" cap="flat" cmpd="sng" algn="ctr">
            <a:solidFill>
              <a:srgbClr val="1E3A5F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900" spc="0" u="none">
                <a:solidFill>
                  <a:srgbClr val="FFFFFF">
                    <a:alpha val="100.00%"/>
                  </a:srgbClr>
                </a:solidFill>
                <a:latin typeface="Calibri"/>
              </a:rPr>
              <a:t><![CDATA[Pays]]></a:t>
            </a:r>
          </a:p>
        </p:txBody>
      </p:sp>
      <p:sp>
        <p:nvSpPr>
          <p:cNvPr id="7" name=""/>
          <p:cNvSpPr txBox="1"/>
          <p:nvPr/>
        </p:nvSpPr>
        <p:spPr>
          <a:xfrm>
            <a:off x="35242500000" y="8096250000"/>
            <a:ext cx="5715000000" cy="2571750000"/>
          </a:xfrm>
          <a:prstGeom prst="rect">
            <a:avLst/>
          </a:prstGeom>
          <a:solidFill>
            <a:srgbClr val="00274C">
              <a:alpha val="100.00%"/>
            </a:srgbClr>
          </a:solidFill>
          <a:ln w="12700" cap="flat" cmpd="sng" algn="ctr">
            <a:solidFill>
              <a:srgbClr val="1E3A5F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900" spc="0" u="none">
                <a:solidFill>
                  <a:srgbClr val="FFFFFF">
                    <a:alpha val="100.00%"/>
                  </a:srgbClr>
                </a:solidFill>
                <a:latin typeface="Calibri"/>
              </a:rPr>
              <a:t><![CDATA[Techno]]></a:t>
            </a:r>
          </a:p>
        </p:txBody>
      </p:sp>
      <p:sp>
        <p:nvSpPr>
          <p:cNvPr id="8" name=""/>
          <p:cNvSpPr txBox="1"/>
          <p:nvPr/>
        </p:nvSpPr>
        <p:spPr>
          <a:xfrm>
            <a:off x="40957500000" y="8096250000"/>
            <a:ext cx="8096250000" cy="2571750000"/>
          </a:xfrm>
          <a:prstGeom prst="rect">
            <a:avLst/>
          </a:prstGeom>
          <a:solidFill>
            <a:srgbClr val="00274C">
              <a:alpha val="100.00%"/>
            </a:srgbClr>
          </a:solidFill>
          <a:ln w="12700" cap="flat" cmpd="sng" algn="ctr">
            <a:solidFill>
              <a:srgbClr val="1E3A5F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900" spc="0" u="none">
                <a:solidFill>
                  <a:srgbClr val="FFFFFF">
                    <a:alpha val="100.00%"/>
                  </a:srgbClr>
                </a:solidFill>
                <a:latin typeface="Calibri"/>
              </a:rPr>
              <a:t><![CDATA[KPI Global]]></a:t>
            </a:r>
          </a:p>
        </p:txBody>
      </p:sp>
      <p:sp>
        <p:nvSpPr>
          <p:cNvPr id="9" name=""/>
          <p:cNvSpPr txBox="1"/>
          <p:nvPr/>
        </p:nvSpPr>
        <p:spPr>
          <a:xfrm>
            <a:off x="49053750000" y="8096250000"/>
            <a:ext cx="16192500000" cy="2571750000"/>
          </a:xfrm>
          <a:prstGeom prst="rect">
            <a:avLst/>
          </a:prstGeom>
          <a:solidFill>
            <a:srgbClr val="00274C">
              <a:alpha val="100.00%"/>
            </a:srgbClr>
          </a:solidFill>
          <a:ln w="12700" cap="flat" cmpd="sng" algn="ctr">
            <a:solidFill>
              <a:srgbClr val="1E3A5F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900" spc="0" u="none">
                <a:solidFill>
                  <a:srgbClr val="FFFFFF">
                    <a:alpha val="100.00%"/>
                  </a:srgbClr>
                </a:solidFill>
                <a:latin typeface="Calibri"/>
              </a:rPr>
              <a:t><![CDATA[KPI Dégradant]]></a:t>
            </a:r>
          </a:p>
        </p:txBody>
      </p:sp>
      <p:sp>
        <p:nvSpPr>
          <p:cNvPr id="10" name=""/>
          <p:cNvSpPr txBox="1"/>
          <p:nvPr/>
        </p:nvSpPr>
        <p:spPr>
          <a:xfrm>
            <a:off x="65246250000" y="8096250000"/>
            <a:ext cx="6667500000" cy="2571750000"/>
          </a:xfrm>
          <a:prstGeom prst="rect">
            <a:avLst/>
          </a:prstGeom>
          <a:solidFill>
            <a:srgbClr val="00274C">
              <a:alpha val="100.00%"/>
            </a:srgbClr>
          </a:solidFill>
          <a:ln w="12700" cap="flat" cmpd="sng" algn="ctr">
            <a:solidFill>
              <a:srgbClr val="1E3A5F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900" spc="0" u="none">
                <a:solidFill>
                  <a:srgbClr val="FFFFFF">
                    <a:alpha val="100.00%"/>
                  </a:srgbClr>
                </a:solidFill>
                <a:latin typeface="Calibri"/>
              </a:rPr>
              <a:t><![CDATA[Valeur]]></a:t>
            </a:r>
          </a:p>
        </p:txBody>
      </p:sp>
      <p:sp>
        <p:nvSpPr>
          <p:cNvPr id="11" name=""/>
          <p:cNvSpPr txBox="1"/>
          <p:nvPr/>
        </p:nvSpPr>
        <p:spPr>
          <a:xfrm>
            <a:off x="1905000000" y="10668000000"/>
            <a:ext cx="2857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1]]></a:t>
            </a:r>
          </a:p>
        </p:txBody>
      </p:sp>
      <p:sp>
        <p:nvSpPr>
          <p:cNvPr id="12" name=""/>
          <p:cNvSpPr txBox="1"/>
          <p:nvPr/>
        </p:nvSpPr>
        <p:spPr>
          <a:xfrm>
            <a:off x="4762500000" y="10668000000"/>
            <a:ext cx="76200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IM427]]></a:t>
            </a:r>
          </a:p>
        </p:txBody>
      </p:sp>
      <p:sp>
        <p:nvSpPr>
          <p:cNvPr id="13" name=""/>
          <p:cNvSpPr txBox="1"/>
          <p:nvPr/>
        </p:nvSpPr>
        <p:spPr>
          <a:xfrm>
            <a:off x="12382500000" y="10668000000"/>
            <a:ext cx="16192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DJEDANA_R]]></a:t>
            </a:r>
          </a:p>
        </p:txBody>
      </p:sp>
      <p:sp>
        <p:nvSpPr>
          <p:cNvPr id="14" name=""/>
          <p:cNvSpPr txBox="1"/>
          <p:nvPr/>
        </p:nvSpPr>
        <p:spPr>
          <a:xfrm>
            <a:off x="28575000000" y="10668000000"/>
            <a:ext cx="6667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CI]]></a:t>
            </a:r>
          </a:p>
        </p:txBody>
      </p:sp>
      <p:sp>
        <p:nvSpPr>
          <p:cNvPr id="15" name=""/>
          <p:cNvSpPr txBox="1"/>
          <p:nvPr/>
        </p:nvSpPr>
        <p:spPr>
          <a:xfrm>
            <a:off x="35242500000" y="10668000000"/>
            <a:ext cx="57150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2G]]></a:t>
            </a:r>
          </a:p>
        </p:txBody>
      </p:sp>
      <p:sp>
        <p:nvSpPr>
          <p:cNvPr id="16" name=""/>
          <p:cNvSpPr txBox="1"/>
          <p:nvPr/>
        </p:nvSpPr>
        <p:spPr>
          <a:xfrm>
            <a:off x="40957500000" y="10668000000"/>
            <a:ext cx="809625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EF4444">
                    <a:alpha val="100.00%"/>
                  </a:srgbClr>
                </a:solidFill>
                <a:latin typeface="Calibri"/>
              </a:rPr>
              <a:t><![CDATA[65.8%]]></a:t>
            </a:r>
          </a:p>
        </p:txBody>
      </p:sp>
      <p:sp>
        <p:nvSpPr>
          <p:cNvPr id="17" name=""/>
          <p:cNvSpPr txBox="1"/>
          <p:nvPr/>
        </p:nvSpPr>
        <p:spPr>
          <a:xfrm>
            <a:off x="49053750000" y="10668000000"/>
            <a:ext cx="16192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Succès Handover]]></a:t>
            </a:r>
          </a:p>
        </p:txBody>
      </p:sp>
      <p:sp>
        <p:nvSpPr>
          <p:cNvPr id="18" name=""/>
          <p:cNvSpPr txBox="1"/>
          <p:nvPr/>
        </p:nvSpPr>
        <p:spPr>
          <a:xfrm>
            <a:off x="65246250000" y="10668000000"/>
            <a:ext cx="6667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41.7%]]></a:t>
            </a:r>
          </a:p>
        </p:txBody>
      </p:sp>
      <p:sp>
        <p:nvSpPr>
          <p:cNvPr id="19" name=""/>
          <p:cNvSpPr txBox="1"/>
          <p:nvPr/>
        </p:nvSpPr>
        <p:spPr>
          <a:xfrm>
            <a:off x="1905000000" y="13239750000"/>
            <a:ext cx="2857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2]]></a:t>
            </a:r>
          </a:p>
        </p:txBody>
      </p:sp>
      <p:sp>
        <p:nvSpPr>
          <p:cNvPr id="20" name=""/>
          <p:cNvSpPr txBox="1"/>
          <p:nvPr/>
        </p:nvSpPr>
        <p:spPr>
          <a:xfrm>
            <a:off x="4762500000" y="13239750000"/>
            <a:ext cx="76200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ET400]]></a:t>
            </a:r>
          </a:p>
        </p:txBody>
      </p:sp>
      <p:sp>
        <p:nvSpPr>
          <p:cNvPr id="21" name=""/>
          <p:cNvSpPr txBox="1"/>
          <p:nvPr/>
        </p:nvSpPr>
        <p:spPr>
          <a:xfrm>
            <a:off x="12382500000" y="13239750000"/>
            <a:ext cx="16192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NUMBER_ONE]]></a:t>
            </a:r>
          </a:p>
        </p:txBody>
      </p:sp>
      <p:sp>
        <p:nvSpPr>
          <p:cNvPr id="22" name=""/>
          <p:cNvSpPr txBox="1"/>
          <p:nvPr/>
        </p:nvSpPr>
        <p:spPr>
          <a:xfrm>
            <a:off x="28575000000" y="13239750000"/>
            <a:ext cx="6667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CI]]></a:t>
            </a:r>
          </a:p>
        </p:txBody>
      </p:sp>
      <p:sp>
        <p:nvSpPr>
          <p:cNvPr id="23" name=""/>
          <p:cNvSpPr txBox="1"/>
          <p:nvPr/>
        </p:nvSpPr>
        <p:spPr>
          <a:xfrm>
            <a:off x="35242500000" y="13239750000"/>
            <a:ext cx="57150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2G]]></a:t>
            </a:r>
          </a:p>
        </p:txBody>
      </p:sp>
      <p:sp>
        <p:nvSpPr>
          <p:cNvPr id="24" name=""/>
          <p:cNvSpPr txBox="1"/>
          <p:nvPr/>
        </p:nvSpPr>
        <p:spPr>
          <a:xfrm>
            <a:off x="40957500000" y="13239750000"/>
            <a:ext cx="809625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EF4444">
                    <a:alpha val="100.00%"/>
                  </a:srgbClr>
                </a:solidFill>
                <a:latin typeface="Calibri"/>
              </a:rPr>
              <a:t><![CDATA[66.1%]]></a:t>
            </a:r>
          </a:p>
        </p:txBody>
      </p:sp>
      <p:sp>
        <p:nvSpPr>
          <p:cNvPr id="25" name=""/>
          <p:cNvSpPr txBox="1"/>
          <p:nvPr/>
        </p:nvSpPr>
        <p:spPr>
          <a:xfrm>
            <a:off x="49053750000" y="13239750000"/>
            <a:ext cx="16192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Disponibilité TCH]]></a:t>
            </a:r>
          </a:p>
        </p:txBody>
      </p:sp>
      <p:sp>
        <p:nvSpPr>
          <p:cNvPr id="26" name=""/>
          <p:cNvSpPr txBox="1"/>
          <p:nvPr/>
        </p:nvSpPr>
        <p:spPr>
          <a:xfrm>
            <a:off x="65246250000" y="13239750000"/>
            <a:ext cx="6667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15.3%]]></a:t>
            </a:r>
          </a:p>
        </p:txBody>
      </p:sp>
      <p:sp>
        <p:nvSpPr>
          <p:cNvPr id="27" name=""/>
          <p:cNvSpPr txBox="1"/>
          <p:nvPr/>
        </p:nvSpPr>
        <p:spPr>
          <a:xfrm>
            <a:off x="1905000000" y="15811500000"/>
            <a:ext cx="2857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3]]></a:t>
            </a:r>
          </a:p>
        </p:txBody>
      </p:sp>
      <p:sp>
        <p:nvSpPr>
          <p:cNvPr id="28" name=""/>
          <p:cNvSpPr txBox="1"/>
          <p:nvPr/>
        </p:nvSpPr>
        <p:spPr>
          <a:xfrm>
            <a:off x="4762500000" y="15811500000"/>
            <a:ext cx="76200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ET988]]></a:t>
            </a:r>
          </a:p>
        </p:txBody>
      </p:sp>
      <p:sp>
        <p:nvSpPr>
          <p:cNvPr id="29" name=""/>
          <p:cNvSpPr txBox="1"/>
          <p:nvPr/>
        </p:nvSpPr>
        <p:spPr>
          <a:xfrm>
            <a:off x="12382500000" y="15811500000"/>
            <a:ext cx="16192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YOP_NUMBER_ONE_EXT]]></a:t>
            </a:r>
          </a:p>
        </p:txBody>
      </p:sp>
      <p:sp>
        <p:nvSpPr>
          <p:cNvPr id="30" name=""/>
          <p:cNvSpPr txBox="1"/>
          <p:nvPr/>
        </p:nvSpPr>
        <p:spPr>
          <a:xfrm>
            <a:off x="28575000000" y="15811500000"/>
            <a:ext cx="6667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CI]]></a:t>
            </a:r>
          </a:p>
        </p:txBody>
      </p:sp>
      <p:sp>
        <p:nvSpPr>
          <p:cNvPr id="31" name=""/>
          <p:cNvSpPr txBox="1"/>
          <p:nvPr/>
        </p:nvSpPr>
        <p:spPr>
          <a:xfrm>
            <a:off x="35242500000" y="15811500000"/>
            <a:ext cx="57150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2G]]></a:t>
            </a:r>
          </a:p>
        </p:txBody>
      </p:sp>
      <p:sp>
        <p:nvSpPr>
          <p:cNvPr id="32" name=""/>
          <p:cNvSpPr txBox="1"/>
          <p:nvPr/>
        </p:nvSpPr>
        <p:spPr>
          <a:xfrm>
            <a:off x="40957500000" y="15811500000"/>
            <a:ext cx="809625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EF4444">
                    <a:alpha val="100.00%"/>
                  </a:srgbClr>
                </a:solidFill>
                <a:latin typeface="Calibri"/>
              </a:rPr>
              <a:t><![CDATA[66.4%]]></a:t>
            </a:r>
          </a:p>
        </p:txBody>
      </p:sp>
      <p:sp>
        <p:nvSpPr>
          <p:cNvPr id="33" name=""/>
          <p:cNvSpPr txBox="1"/>
          <p:nvPr/>
        </p:nvSpPr>
        <p:spPr>
          <a:xfrm>
            <a:off x="49053750000" y="15811500000"/>
            <a:ext cx="16192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Disponibilité TCH]]></a:t>
            </a:r>
          </a:p>
        </p:txBody>
      </p:sp>
      <p:sp>
        <p:nvSpPr>
          <p:cNvPr id="34" name=""/>
          <p:cNvSpPr txBox="1"/>
          <p:nvPr/>
        </p:nvSpPr>
        <p:spPr>
          <a:xfrm>
            <a:off x="65246250000" y="15811500000"/>
            <a:ext cx="6667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15.8%]]></a:t>
            </a:r>
          </a:p>
        </p:txBody>
      </p:sp>
      <p:sp>
        <p:nvSpPr>
          <p:cNvPr id="35" name=""/>
          <p:cNvSpPr txBox="1"/>
          <p:nvPr/>
        </p:nvSpPr>
        <p:spPr>
          <a:xfrm>
            <a:off x="1905000000" y="18383250000"/>
            <a:ext cx="2857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4]]></a:t>
            </a:r>
          </a:p>
        </p:txBody>
      </p:sp>
      <p:sp>
        <p:nvSpPr>
          <p:cNvPr id="36" name=""/>
          <p:cNvSpPr txBox="1"/>
          <p:nvPr/>
        </p:nvSpPr>
        <p:spPr>
          <a:xfrm>
            <a:off x="4762500000" y="18383250000"/>
            <a:ext cx="76200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AC127]]></a:t>
            </a:r>
          </a:p>
        </p:txBody>
      </p:sp>
      <p:sp>
        <p:nvSpPr>
          <p:cNvPr id="37" name=""/>
          <p:cNvSpPr txBox="1"/>
          <p:nvPr/>
        </p:nvSpPr>
        <p:spPr>
          <a:xfrm>
            <a:off x="12382500000" y="18383250000"/>
            <a:ext cx="16192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AC127]]></a:t>
            </a:r>
          </a:p>
        </p:txBody>
      </p:sp>
      <p:sp>
        <p:nvSpPr>
          <p:cNvPr id="38" name=""/>
          <p:cNvSpPr txBox="1"/>
          <p:nvPr/>
        </p:nvSpPr>
        <p:spPr>
          <a:xfrm>
            <a:off x="28575000000" y="18383250000"/>
            <a:ext cx="6667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CI]]></a:t>
            </a:r>
          </a:p>
        </p:txBody>
      </p:sp>
      <p:sp>
        <p:nvSpPr>
          <p:cNvPr id="39" name=""/>
          <p:cNvSpPr txBox="1"/>
          <p:nvPr/>
        </p:nvSpPr>
        <p:spPr>
          <a:xfrm>
            <a:off x="35242500000" y="18383250000"/>
            <a:ext cx="57150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2G]]></a:t>
            </a:r>
          </a:p>
        </p:txBody>
      </p:sp>
      <p:sp>
        <p:nvSpPr>
          <p:cNvPr id="40" name=""/>
          <p:cNvSpPr txBox="1"/>
          <p:nvPr/>
        </p:nvSpPr>
        <p:spPr>
          <a:xfrm>
            <a:off x="40957500000" y="18383250000"/>
            <a:ext cx="809625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EF4444">
                    <a:alpha val="100.00%"/>
                  </a:srgbClr>
                </a:solidFill>
                <a:latin typeface="Calibri"/>
              </a:rPr>
              <a:t><![CDATA[66.7%]]></a:t>
            </a:r>
          </a:p>
        </p:txBody>
      </p:sp>
      <p:sp>
        <p:nvSpPr>
          <p:cNvPr id="41" name=""/>
          <p:cNvSpPr txBox="1"/>
          <p:nvPr/>
        </p:nvSpPr>
        <p:spPr>
          <a:xfrm>
            <a:off x="49053750000" y="18383250000"/>
            <a:ext cx="16192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Disponibilité TCH]]></a:t>
            </a:r>
          </a:p>
        </p:txBody>
      </p:sp>
      <p:sp>
        <p:nvSpPr>
          <p:cNvPr id="42" name=""/>
          <p:cNvSpPr txBox="1"/>
          <p:nvPr/>
        </p:nvSpPr>
        <p:spPr>
          <a:xfrm>
            <a:off x="65246250000" y="18383250000"/>
            <a:ext cx="6667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0.0%]]></a:t>
            </a:r>
          </a:p>
        </p:txBody>
      </p:sp>
      <p:sp>
        <p:nvSpPr>
          <p:cNvPr id="43" name=""/>
          <p:cNvSpPr txBox="1"/>
          <p:nvPr/>
        </p:nvSpPr>
        <p:spPr>
          <a:xfrm>
            <a:off x="1905000000" y="20955000000"/>
            <a:ext cx="2857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5]]></a:t>
            </a:r>
          </a:p>
        </p:txBody>
      </p:sp>
      <p:sp>
        <p:nvSpPr>
          <p:cNvPr id="44" name=""/>
          <p:cNvSpPr txBox="1"/>
          <p:nvPr/>
        </p:nvSpPr>
        <p:spPr>
          <a:xfrm>
            <a:off x="4762500000" y="20955000000"/>
            <a:ext cx="76200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AC288]]></a:t>
            </a:r>
          </a:p>
        </p:txBody>
      </p:sp>
      <p:sp>
        <p:nvSpPr>
          <p:cNvPr id="45" name=""/>
          <p:cNvSpPr txBox="1"/>
          <p:nvPr/>
        </p:nvSpPr>
        <p:spPr>
          <a:xfrm>
            <a:off x="12382500000" y="20955000000"/>
            <a:ext cx="16192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BOUNA]]></a:t>
            </a:r>
          </a:p>
        </p:txBody>
      </p:sp>
      <p:sp>
        <p:nvSpPr>
          <p:cNvPr id="46" name=""/>
          <p:cNvSpPr txBox="1"/>
          <p:nvPr/>
        </p:nvSpPr>
        <p:spPr>
          <a:xfrm>
            <a:off x="28575000000" y="20955000000"/>
            <a:ext cx="6667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CI]]></a:t>
            </a:r>
          </a:p>
        </p:txBody>
      </p:sp>
      <p:sp>
        <p:nvSpPr>
          <p:cNvPr id="47" name=""/>
          <p:cNvSpPr txBox="1"/>
          <p:nvPr/>
        </p:nvSpPr>
        <p:spPr>
          <a:xfrm>
            <a:off x="35242500000" y="20955000000"/>
            <a:ext cx="57150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2G]]></a:t>
            </a:r>
          </a:p>
        </p:txBody>
      </p:sp>
      <p:sp>
        <p:nvSpPr>
          <p:cNvPr id="48" name=""/>
          <p:cNvSpPr txBox="1"/>
          <p:nvPr/>
        </p:nvSpPr>
        <p:spPr>
          <a:xfrm>
            <a:off x="40957500000" y="20955000000"/>
            <a:ext cx="809625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EF4444">
                    <a:alpha val="100.00%"/>
                  </a:srgbClr>
                </a:solidFill>
                <a:latin typeface="Calibri"/>
              </a:rPr>
              <a:t><![CDATA[66.7%]]></a:t>
            </a:r>
          </a:p>
        </p:txBody>
      </p:sp>
      <p:sp>
        <p:nvSpPr>
          <p:cNvPr id="49" name=""/>
          <p:cNvSpPr txBox="1"/>
          <p:nvPr/>
        </p:nvSpPr>
        <p:spPr>
          <a:xfrm>
            <a:off x="49053750000" y="20955000000"/>
            <a:ext cx="16192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Disponibilité TCH]]></a:t>
            </a:r>
          </a:p>
        </p:txBody>
      </p:sp>
      <p:sp>
        <p:nvSpPr>
          <p:cNvPr id="50" name=""/>
          <p:cNvSpPr txBox="1"/>
          <p:nvPr/>
        </p:nvSpPr>
        <p:spPr>
          <a:xfrm>
            <a:off x="65246250000" y="20955000000"/>
            <a:ext cx="6667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0.0%]]></a:t>
            </a:r>
          </a:p>
        </p:txBody>
      </p:sp>
      <p:sp>
        <p:nvSpPr>
          <p:cNvPr id="51" name=""/>
          <p:cNvSpPr txBox="1"/>
          <p:nvPr/>
        </p:nvSpPr>
        <p:spPr>
          <a:xfrm>
            <a:off x="1905000000" y="23526750000"/>
            <a:ext cx="2857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6]]></a:t>
            </a:r>
          </a:p>
        </p:txBody>
      </p:sp>
      <p:sp>
        <p:nvSpPr>
          <p:cNvPr id="52" name=""/>
          <p:cNvSpPr txBox="1"/>
          <p:nvPr/>
        </p:nvSpPr>
        <p:spPr>
          <a:xfrm>
            <a:off x="4762500000" y="23526750000"/>
            <a:ext cx="76200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AC359]]></a:t>
            </a:r>
          </a:p>
        </p:txBody>
      </p:sp>
      <p:sp>
        <p:nvSpPr>
          <p:cNvPr id="53" name=""/>
          <p:cNvSpPr txBox="1"/>
          <p:nvPr/>
        </p:nvSpPr>
        <p:spPr>
          <a:xfrm>
            <a:off x="12382500000" y="23526750000"/>
            <a:ext cx="16192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AVICENNE]]></a:t>
            </a:r>
          </a:p>
        </p:txBody>
      </p:sp>
      <p:sp>
        <p:nvSpPr>
          <p:cNvPr id="54" name=""/>
          <p:cNvSpPr txBox="1"/>
          <p:nvPr/>
        </p:nvSpPr>
        <p:spPr>
          <a:xfrm>
            <a:off x="28575000000" y="23526750000"/>
            <a:ext cx="6667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CI]]></a:t>
            </a:r>
          </a:p>
        </p:txBody>
      </p:sp>
      <p:sp>
        <p:nvSpPr>
          <p:cNvPr id="55" name=""/>
          <p:cNvSpPr txBox="1"/>
          <p:nvPr/>
        </p:nvSpPr>
        <p:spPr>
          <a:xfrm>
            <a:off x="35242500000" y="23526750000"/>
            <a:ext cx="57150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2G]]></a:t>
            </a:r>
          </a:p>
        </p:txBody>
      </p:sp>
      <p:sp>
        <p:nvSpPr>
          <p:cNvPr id="56" name=""/>
          <p:cNvSpPr txBox="1"/>
          <p:nvPr/>
        </p:nvSpPr>
        <p:spPr>
          <a:xfrm>
            <a:off x="40957500000" y="23526750000"/>
            <a:ext cx="809625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EF4444">
                    <a:alpha val="100.00%"/>
                  </a:srgbClr>
                </a:solidFill>
                <a:latin typeface="Calibri"/>
              </a:rPr>
              <a:t><![CDATA[66.7%]]></a:t>
            </a:r>
          </a:p>
        </p:txBody>
      </p:sp>
      <p:sp>
        <p:nvSpPr>
          <p:cNvPr id="57" name=""/>
          <p:cNvSpPr txBox="1"/>
          <p:nvPr/>
        </p:nvSpPr>
        <p:spPr>
          <a:xfrm>
            <a:off x="49053750000" y="23526750000"/>
            <a:ext cx="16192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Disponibilité TCH]]></a:t>
            </a:r>
          </a:p>
        </p:txBody>
      </p:sp>
      <p:sp>
        <p:nvSpPr>
          <p:cNvPr id="58" name=""/>
          <p:cNvSpPr txBox="1"/>
          <p:nvPr/>
        </p:nvSpPr>
        <p:spPr>
          <a:xfrm>
            <a:off x="65246250000" y="23526750000"/>
            <a:ext cx="6667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0.0%]]></a:t>
            </a:r>
          </a:p>
        </p:txBody>
      </p:sp>
      <p:sp>
        <p:nvSpPr>
          <p:cNvPr id="59" name=""/>
          <p:cNvSpPr txBox="1"/>
          <p:nvPr/>
        </p:nvSpPr>
        <p:spPr>
          <a:xfrm>
            <a:off x="1905000000" y="26098500000"/>
            <a:ext cx="2857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7]]></a:t>
            </a:r>
          </a:p>
        </p:txBody>
      </p:sp>
      <p:sp>
        <p:nvSpPr>
          <p:cNvPr id="60" name=""/>
          <p:cNvSpPr txBox="1"/>
          <p:nvPr/>
        </p:nvSpPr>
        <p:spPr>
          <a:xfrm>
            <a:off x="4762500000" y="26098500000"/>
            <a:ext cx="76200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AC634]]></a:t>
            </a:r>
          </a:p>
        </p:txBody>
      </p:sp>
      <p:sp>
        <p:nvSpPr>
          <p:cNvPr id="61" name=""/>
          <p:cNvSpPr txBox="1"/>
          <p:nvPr/>
        </p:nvSpPr>
        <p:spPr>
          <a:xfrm>
            <a:off x="12382500000" y="26098500000"/>
            <a:ext cx="16192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ABINADER]]></a:t>
            </a:r>
          </a:p>
        </p:txBody>
      </p:sp>
      <p:sp>
        <p:nvSpPr>
          <p:cNvPr id="62" name=""/>
          <p:cNvSpPr txBox="1"/>
          <p:nvPr/>
        </p:nvSpPr>
        <p:spPr>
          <a:xfrm>
            <a:off x="28575000000" y="26098500000"/>
            <a:ext cx="6667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CI]]></a:t>
            </a:r>
          </a:p>
        </p:txBody>
      </p:sp>
      <p:sp>
        <p:nvSpPr>
          <p:cNvPr id="63" name=""/>
          <p:cNvSpPr txBox="1"/>
          <p:nvPr/>
        </p:nvSpPr>
        <p:spPr>
          <a:xfrm>
            <a:off x="35242500000" y="26098500000"/>
            <a:ext cx="57150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2G]]></a:t>
            </a:r>
          </a:p>
        </p:txBody>
      </p:sp>
      <p:sp>
        <p:nvSpPr>
          <p:cNvPr id="64" name=""/>
          <p:cNvSpPr txBox="1"/>
          <p:nvPr/>
        </p:nvSpPr>
        <p:spPr>
          <a:xfrm>
            <a:off x="40957500000" y="26098500000"/>
            <a:ext cx="809625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EF4444">
                    <a:alpha val="100.00%"/>
                  </a:srgbClr>
                </a:solidFill>
                <a:latin typeface="Calibri"/>
              </a:rPr>
              <a:t><![CDATA[66.7%]]></a:t>
            </a:r>
          </a:p>
        </p:txBody>
      </p:sp>
      <p:sp>
        <p:nvSpPr>
          <p:cNvPr id="65" name=""/>
          <p:cNvSpPr txBox="1"/>
          <p:nvPr/>
        </p:nvSpPr>
        <p:spPr>
          <a:xfrm>
            <a:off x="49053750000" y="26098500000"/>
            <a:ext cx="16192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Disponibilité TCH]]></a:t>
            </a:r>
          </a:p>
        </p:txBody>
      </p:sp>
      <p:sp>
        <p:nvSpPr>
          <p:cNvPr id="66" name=""/>
          <p:cNvSpPr txBox="1"/>
          <p:nvPr/>
        </p:nvSpPr>
        <p:spPr>
          <a:xfrm>
            <a:off x="65246250000" y="26098500000"/>
            <a:ext cx="6667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0.0%]]></a:t>
            </a:r>
          </a:p>
        </p:txBody>
      </p:sp>
      <p:sp>
        <p:nvSpPr>
          <p:cNvPr id="67" name=""/>
          <p:cNvSpPr txBox="1"/>
          <p:nvPr/>
        </p:nvSpPr>
        <p:spPr>
          <a:xfrm>
            <a:off x="1905000000" y="28670250000"/>
            <a:ext cx="2857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8]]></a:t>
            </a:r>
          </a:p>
        </p:txBody>
      </p:sp>
      <p:sp>
        <p:nvSpPr>
          <p:cNvPr id="68" name=""/>
          <p:cNvSpPr txBox="1"/>
          <p:nvPr/>
        </p:nvSpPr>
        <p:spPr>
          <a:xfrm>
            <a:off x="4762500000" y="28670250000"/>
            <a:ext cx="76200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AC663]]></a:t>
            </a:r>
          </a:p>
        </p:txBody>
      </p:sp>
      <p:sp>
        <p:nvSpPr>
          <p:cNvPr id="69" name=""/>
          <p:cNvSpPr txBox="1"/>
          <p:nvPr/>
        </p:nvSpPr>
        <p:spPr>
          <a:xfrm>
            <a:off x="12382500000" y="28670250000"/>
            <a:ext cx="16192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BRIDGE_BANK]]></a:t>
            </a:r>
          </a:p>
        </p:txBody>
      </p:sp>
      <p:sp>
        <p:nvSpPr>
          <p:cNvPr id="70" name=""/>
          <p:cNvSpPr txBox="1"/>
          <p:nvPr/>
        </p:nvSpPr>
        <p:spPr>
          <a:xfrm>
            <a:off x="28575000000" y="28670250000"/>
            <a:ext cx="6667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CI]]></a:t>
            </a:r>
          </a:p>
        </p:txBody>
      </p:sp>
      <p:sp>
        <p:nvSpPr>
          <p:cNvPr id="71" name=""/>
          <p:cNvSpPr txBox="1"/>
          <p:nvPr/>
        </p:nvSpPr>
        <p:spPr>
          <a:xfrm>
            <a:off x="35242500000" y="28670250000"/>
            <a:ext cx="57150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2G]]></a:t>
            </a:r>
          </a:p>
        </p:txBody>
      </p:sp>
      <p:sp>
        <p:nvSpPr>
          <p:cNvPr id="72" name=""/>
          <p:cNvSpPr txBox="1"/>
          <p:nvPr/>
        </p:nvSpPr>
        <p:spPr>
          <a:xfrm>
            <a:off x="40957500000" y="28670250000"/>
            <a:ext cx="809625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EF4444">
                    <a:alpha val="100.00%"/>
                  </a:srgbClr>
                </a:solidFill>
                <a:latin typeface="Calibri"/>
              </a:rPr>
              <a:t><![CDATA[66.7%]]></a:t>
            </a:r>
          </a:p>
        </p:txBody>
      </p:sp>
      <p:sp>
        <p:nvSpPr>
          <p:cNvPr id="73" name=""/>
          <p:cNvSpPr txBox="1"/>
          <p:nvPr/>
        </p:nvSpPr>
        <p:spPr>
          <a:xfrm>
            <a:off x="49053750000" y="28670250000"/>
            <a:ext cx="16192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Disponibilité TCH]]></a:t>
            </a:r>
          </a:p>
        </p:txBody>
      </p:sp>
      <p:sp>
        <p:nvSpPr>
          <p:cNvPr id="74" name=""/>
          <p:cNvSpPr txBox="1"/>
          <p:nvPr/>
        </p:nvSpPr>
        <p:spPr>
          <a:xfrm>
            <a:off x="65246250000" y="28670250000"/>
            <a:ext cx="6667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0.0%]]></a:t>
            </a:r>
          </a:p>
        </p:txBody>
      </p:sp>
      <p:sp>
        <p:nvSpPr>
          <p:cNvPr id="75" name=""/>
          <p:cNvSpPr txBox="1"/>
          <p:nvPr/>
        </p:nvSpPr>
        <p:spPr>
          <a:xfrm>
            <a:off x="1905000000" y="31242000000"/>
            <a:ext cx="2857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9]]></a:t>
            </a:r>
          </a:p>
        </p:txBody>
      </p:sp>
      <p:sp>
        <p:nvSpPr>
          <p:cNvPr id="76" name=""/>
          <p:cNvSpPr txBox="1"/>
          <p:nvPr/>
        </p:nvSpPr>
        <p:spPr>
          <a:xfrm>
            <a:off x="4762500000" y="31242000000"/>
            <a:ext cx="76200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AC717]]></a:t>
            </a:r>
          </a:p>
        </p:txBody>
      </p:sp>
      <p:sp>
        <p:nvSpPr>
          <p:cNvPr id="77" name=""/>
          <p:cNvSpPr txBox="1"/>
          <p:nvPr/>
        </p:nvSpPr>
        <p:spPr>
          <a:xfrm>
            <a:off x="12382500000" y="31242000000"/>
            <a:ext cx="16192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DAGBA_EXTENSION]]></a:t>
            </a:r>
          </a:p>
        </p:txBody>
      </p:sp>
      <p:sp>
        <p:nvSpPr>
          <p:cNvPr id="78" name=""/>
          <p:cNvSpPr txBox="1"/>
          <p:nvPr/>
        </p:nvSpPr>
        <p:spPr>
          <a:xfrm>
            <a:off x="28575000000" y="31242000000"/>
            <a:ext cx="6667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CI]]></a:t>
            </a:r>
          </a:p>
        </p:txBody>
      </p:sp>
      <p:sp>
        <p:nvSpPr>
          <p:cNvPr id="79" name=""/>
          <p:cNvSpPr txBox="1"/>
          <p:nvPr/>
        </p:nvSpPr>
        <p:spPr>
          <a:xfrm>
            <a:off x="35242500000" y="31242000000"/>
            <a:ext cx="57150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2G]]></a:t>
            </a:r>
          </a:p>
        </p:txBody>
      </p:sp>
      <p:sp>
        <p:nvSpPr>
          <p:cNvPr id="80" name=""/>
          <p:cNvSpPr txBox="1"/>
          <p:nvPr/>
        </p:nvSpPr>
        <p:spPr>
          <a:xfrm>
            <a:off x="40957500000" y="31242000000"/>
            <a:ext cx="809625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EF4444">
                    <a:alpha val="100.00%"/>
                  </a:srgbClr>
                </a:solidFill>
                <a:latin typeface="Calibri"/>
              </a:rPr>
              <a:t><![CDATA[66.7%]]></a:t>
            </a:r>
          </a:p>
        </p:txBody>
      </p:sp>
      <p:sp>
        <p:nvSpPr>
          <p:cNvPr id="81" name=""/>
          <p:cNvSpPr txBox="1"/>
          <p:nvPr/>
        </p:nvSpPr>
        <p:spPr>
          <a:xfrm>
            <a:off x="49053750000" y="31242000000"/>
            <a:ext cx="16192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Disponibilité TCH]]></a:t>
            </a:r>
          </a:p>
        </p:txBody>
      </p:sp>
      <p:sp>
        <p:nvSpPr>
          <p:cNvPr id="82" name=""/>
          <p:cNvSpPr txBox="1"/>
          <p:nvPr/>
        </p:nvSpPr>
        <p:spPr>
          <a:xfrm>
            <a:off x="65246250000" y="31242000000"/>
            <a:ext cx="6667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0.0%]]></a:t>
            </a:r>
          </a:p>
        </p:txBody>
      </p:sp>
      <p:sp>
        <p:nvSpPr>
          <p:cNvPr id="83" name=""/>
          <p:cNvSpPr txBox="1"/>
          <p:nvPr/>
        </p:nvSpPr>
        <p:spPr>
          <a:xfrm>
            <a:off x="1905000000" y="33813750000"/>
            <a:ext cx="2857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10]]></a:t>
            </a:r>
          </a:p>
        </p:txBody>
      </p:sp>
      <p:sp>
        <p:nvSpPr>
          <p:cNvPr id="84" name=""/>
          <p:cNvSpPr txBox="1"/>
          <p:nvPr/>
        </p:nvSpPr>
        <p:spPr>
          <a:xfrm>
            <a:off x="4762500000" y="33813750000"/>
            <a:ext cx="76200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AC988]]></a:t>
            </a:r>
          </a:p>
        </p:txBody>
      </p:sp>
      <p:sp>
        <p:nvSpPr>
          <p:cNvPr id="85" name=""/>
          <p:cNvSpPr txBox="1"/>
          <p:nvPr/>
        </p:nvSpPr>
        <p:spPr>
          <a:xfrm>
            <a:off x="12382500000" y="33813750000"/>
            <a:ext cx="16192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BELLE_EPINE]]></a:t>
            </a:r>
          </a:p>
        </p:txBody>
      </p:sp>
      <p:sp>
        <p:nvSpPr>
          <p:cNvPr id="86" name=""/>
          <p:cNvSpPr txBox="1"/>
          <p:nvPr/>
        </p:nvSpPr>
        <p:spPr>
          <a:xfrm>
            <a:off x="28575000000" y="33813750000"/>
            <a:ext cx="6667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CI]]></a:t>
            </a:r>
          </a:p>
        </p:txBody>
      </p:sp>
      <p:sp>
        <p:nvSpPr>
          <p:cNvPr id="87" name=""/>
          <p:cNvSpPr txBox="1"/>
          <p:nvPr/>
        </p:nvSpPr>
        <p:spPr>
          <a:xfrm>
            <a:off x="35242500000" y="33813750000"/>
            <a:ext cx="57150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2G]]></a:t>
            </a:r>
          </a:p>
        </p:txBody>
      </p:sp>
      <p:sp>
        <p:nvSpPr>
          <p:cNvPr id="88" name=""/>
          <p:cNvSpPr txBox="1"/>
          <p:nvPr/>
        </p:nvSpPr>
        <p:spPr>
          <a:xfrm>
            <a:off x="40957500000" y="33813750000"/>
            <a:ext cx="809625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EF4444">
                    <a:alpha val="100.00%"/>
                  </a:srgbClr>
                </a:solidFill>
                <a:latin typeface="Calibri"/>
              </a:rPr>
              <a:t><![CDATA[66.7%]]></a:t>
            </a:r>
          </a:p>
        </p:txBody>
      </p:sp>
      <p:sp>
        <p:nvSpPr>
          <p:cNvPr id="89" name=""/>
          <p:cNvSpPr txBox="1"/>
          <p:nvPr/>
        </p:nvSpPr>
        <p:spPr>
          <a:xfrm>
            <a:off x="49053750000" y="33813750000"/>
            <a:ext cx="16192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Disponibilité TCH]]></a:t>
            </a:r>
          </a:p>
        </p:txBody>
      </p:sp>
      <p:sp>
        <p:nvSpPr>
          <p:cNvPr id="90" name=""/>
          <p:cNvSpPr txBox="1"/>
          <p:nvPr/>
        </p:nvSpPr>
        <p:spPr>
          <a:xfrm>
            <a:off x="65246250000" y="33813750000"/>
            <a:ext cx="6667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0.0%]]></a:t>
            </a:r>
          </a:p>
        </p:txBody>
      </p:sp>
      <p:sp>
        <p:nvSpPr>
          <p:cNvPr id="91" name=""/>
          <p:cNvSpPr txBox="1"/>
          <p:nvPr/>
        </p:nvSpPr>
        <p:spPr>
          <a:xfrm>
            <a:off x="1905000000" y="36385500000"/>
            <a:ext cx="2857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11]]></a:t>
            </a:r>
          </a:p>
        </p:txBody>
      </p:sp>
      <p:sp>
        <p:nvSpPr>
          <p:cNvPr id="92" name=""/>
          <p:cNvSpPr txBox="1"/>
          <p:nvPr/>
        </p:nvSpPr>
        <p:spPr>
          <a:xfrm>
            <a:off x="4762500000" y="36385500000"/>
            <a:ext cx="76200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AC999]]></a:t>
            </a:r>
          </a:p>
        </p:txBody>
      </p:sp>
      <p:sp>
        <p:nvSpPr>
          <p:cNvPr id="93" name=""/>
          <p:cNvSpPr txBox="1"/>
          <p:nvPr/>
        </p:nvSpPr>
        <p:spPr>
          <a:xfrm>
            <a:off x="12382500000" y="36385500000"/>
            <a:ext cx="16192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AC999]]></a:t>
            </a:r>
          </a:p>
        </p:txBody>
      </p:sp>
      <p:sp>
        <p:nvSpPr>
          <p:cNvPr id="94" name=""/>
          <p:cNvSpPr txBox="1"/>
          <p:nvPr/>
        </p:nvSpPr>
        <p:spPr>
          <a:xfrm>
            <a:off x="28575000000" y="36385500000"/>
            <a:ext cx="6667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CI]]></a:t>
            </a:r>
          </a:p>
        </p:txBody>
      </p:sp>
      <p:sp>
        <p:nvSpPr>
          <p:cNvPr id="95" name=""/>
          <p:cNvSpPr txBox="1"/>
          <p:nvPr/>
        </p:nvSpPr>
        <p:spPr>
          <a:xfrm>
            <a:off x="35242500000" y="36385500000"/>
            <a:ext cx="57150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2G]]></a:t>
            </a:r>
          </a:p>
        </p:txBody>
      </p:sp>
      <p:sp>
        <p:nvSpPr>
          <p:cNvPr id="96" name=""/>
          <p:cNvSpPr txBox="1"/>
          <p:nvPr/>
        </p:nvSpPr>
        <p:spPr>
          <a:xfrm>
            <a:off x="40957500000" y="36385500000"/>
            <a:ext cx="809625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EF4444">
                    <a:alpha val="100.00%"/>
                  </a:srgbClr>
                </a:solidFill>
                <a:latin typeface="Calibri"/>
              </a:rPr>
              <a:t><![CDATA[66.7%]]></a:t>
            </a:r>
          </a:p>
        </p:txBody>
      </p:sp>
      <p:sp>
        <p:nvSpPr>
          <p:cNvPr id="97" name=""/>
          <p:cNvSpPr txBox="1"/>
          <p:nvPr/>
        </p:nvSpPr>
        <p:spPr>
          <a:xfrm>
            <a:off x="49053750000" y="36385500000"/>
            <a:ext cx="16192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Disponibilité TCH]]></a:t>
            </a:r>
          </a:p>
        </p:txBody>
      </p:sp>
      <p:sp>
        <p:nvSpPr>
          <p:cNvPr id="98" name=""/>
          <p:cNvSpPr txBox="1"/>
          <p:nvPr/>
        </p:nvSpPr>
        <p:spPr>
          <a:xfrm>
            <a:off x="65246250000" y="36385500000"/>
            <a:ext cx="6667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0.0%]]></a:t>
            </a:r>
          </a:p>
        </p:txBody>
      </p:sp>
      <p:sp>
        <p:nvSpPr>
          <p:cNvPr id="99" name=""/>
          <p:cNvSpPr txBox="1"/>
          <p:nvPr/>
        </p:nvSpPr>
        <p:spPr>
          <a:xfrm>
            <a:off x="1905000000" y="38957250000"/>
            <a:ext cx="2857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12]]></a:t>
            </a:r>
          </a:p>
        </p:txBody>
      </p:sp>
      <p:sp>
        <p:nvSpPr>
          <p:cNvPr id="100" name=""/>
          <p:cNvSpPr txBox="1"/>
          <p:nvPr/>
        </p:nvSpPr>
        <p:spPr>
          <a:xfrm>
            <a:off x="4762500000" y="38957250000"/>
            <a:ext cx="76200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ET036]]></a:t>
            </a:r>
          </a:p>
        </p:txBody>
      </p:sp>
      <p:sp>
        <p:nvSpPr>
          <p:cNvPr id="101" name=""/>
          <p:cNvSpPr txBox="1"/>
          <p:nvPr/>
        </p:nvSpPr>
        <p:spPr>
          <a:xfrm>
            <a:off x="12382500000" y="38957250000"/>
            <a:ext cx="16192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MICRO_TOUR_C]]></a:t>
            </a:r>
          </a:p>
        </p:txBody>
      </p:sp>
      <p:sp>
        <p:nvSpPr>
          <p:cNvPr id="102" name=""/>
          <p:cNvSpPr txBox="1"/>
          <p:nvPr/>
        </p:nvSpPr>
        <p:spPr>
          <a:xfrm>
            <a:off x="28575000000" y="38957250000"/>
            <a:ext cx="6667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CI]]></a:t>
            </a:r>
          </a:p>
        </p:txBody>
      </p:sp>
      <p:sp>
        <p:nvSpPr>
          <p:cNvPr id="103" name=""/>
          <p:cNvSpPr txBox="1"/>
          <p:nvPr/>
        </p:nvSpPr>
        <p:spPr>
          <a:xfrm>
            <a:off x="35242500000" y="38957250000"/>
            <a:ext cx="57150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2G]]></a:t>
            </a:r>
          </a:p>
        </p:txBody>
      </p:sp>
      <p:sp>
        <p:nvSpPr>
          <p:cNvPr id="104" name=""/>
          <p:cNvSpPr txBox="1"/>
          <p:nvPr/>
        </p:nvSpPr>
        <p:spPr>
          <a:xfrm>
            <a:off x="40957500000" y="38957250000"/>
            <a:ext cx="809625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EF4444">
                    <a:alpha val="100.00%"/>
                  </a:srgbClr>
                </a:solidFill>
                <a:latin typeface="Calibri"/>
              </a:rPr>
              <a:t><![CDATA[66.7%]]></a:t>
            </a:r>
          </a:p>
        </p:txBody>
      </p:sp>
      <p:sp>
        <p:nvSpPr>
          <p:cNvPr id="105" name=""/>
          <p:cNvSpPr txBox="1"/>
          <p:nvPr/>
        </p:nvSpPr>
        <p:spPr>
          <a:xfrm>
            <a:off x="49053750000" y="38957250000"/>
            <a:ext cx="16192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Disponibilité TCH]]></a:t>
            </a:r>
          </a:p>
        </p:txBody>
      </p:sp>
      <p:sp>
        <p:nvSpPr>
          <p:cNvPr id="106" name=""/>
          <p:cNvSpPr txBox="1"/>
          <p:nvPr/>
        </p:nvSpPr>
        <p:spPr>
          <a:xfrm>
            <a:off x="65246250000" y="38957250000"/>
            <a:ext cx="6667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0.0%]]></a:t>
            </a:r>
          </a:p>
        </p:txBody>
      </p:sp>
      <p:sp>
        <p:nvSpPr>
          <p:cNvPr id="107" name=""/>
          <p:cNvSpPr txBox="1"/>
          <p:nvPr/>
        </p:nvSpPr>
        <p:spPr>
          <a:xfrm>
            <a:off x="1905000000" y="41529000000"/>
            <a:ext cx="2857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13]]></a:t>
            </a:r>
          </a:p>
        </p:txBody>
      </p:sp>
      <p:sp>
        <p:nvSpPr>
          <p:cNvPr id="108" name=""/>
          <p:cNvSpPr txBox="1"/>
          <p:nvPr/>
        </p:nvSpPr>
        <p:spPr>
          <a:xfrm>
            <a:off x="4762500000" y="41529000000"/>
            <a:ext cx="76200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ET038]]></a:t>
            </a:r>
          </a:p>
        </p:txBody>
      </p:sp>
      <p:sp>
        <p:nvSpPr>
          <p:cNvPr id="109" name=""/>
          <p:cNvSpPr txBox="1"/>
          <p:nvPr/>
        </p:nvSpPr>
        <p:spPr>
          <a:xfrm>
            <a:off x="12382500000" y="41529000000"/>
            <a:ext cx="16192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MICRO_TOUR_D]]></a:t>
            </a:r>
          </a:p>
        </p:txBody>
      </p:sp>
      <p:sp>
        <p:nvSpPr>
          <p:cNvPr id="110" name=""/>
          <p:cNvSpPr txBox="1"/>
          <p:nvPr/>
        </p:nvSpPr>
        <p:spPr>
          <a:xfrm>
            <a:off x="28575000000" y="41529000000"/>
            <a:ext cx="6667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CI]]></a:t>
            </a:r>
          </a:p>
        </p:txBody>
      </p:sp>
      <p:sp>
        <p:nvSpPr>
          <p:cNvPr id="111" name=""/>
          <p:cNvSpPr txBox="1"/>
          <p:nvPr/>
        </p:nvSpPr>
        <p:spPr>
          <a:xfrm>
            <a:off x="35242500000" y="41529000000"/>
            <a:ext cx="57150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2G]]></a:t>
            </a:r>
          </a:p>
        </p:txBody>
      </p:sp>
      <p:sp>
        <p:nvSpPr>
          <p:cNvPr id="112" name=""/>
          <p:cNvSpPr txBox="1"/>
          <p:nvPr/>
        </p:nvSpPr>
        <p:spPr>
          <a:xfrm>
            <a:off x="40957500000" y="41529000000"/>
            <a:ext cx="809625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EF4444">
                    <a:alpha val="100.00%"/>
                  </a:srgbClr>
                </a:solidFill>
                <a:latin typeface="Calibri"/>
              </a:rPr>
              <a:t><![CDATA[66.7%]]></a:t>
            </a:r>
          </a:p>
        </p:txBody>
      </p:sp>
      <p:sp>
        <p:nvSpPr>
          <p:cNvPr id="113" name=""/>
          <p:cNvSpPr txBox="1"/>
          <p:nvPr/>
        </p:nvSpPr>
        <p:spPr>
          <a:xfrm>
            <a:off x="49053750000" y="41529000000"/>
            <a:ext cx="16192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Disponibilité TCH]]></a:t>
            </a:r>
          </a:p>
        </p:txBody>
      </p:sp>
      <p:sp>
        <p:nvSpPr>
          <p:cNvPr id="114" name=""/>
          <p:cNvSpPr txBox="1"/>
          <p:nvPr/>
        </p:nvSpPr>
        <p:spPr>
          <a:xfrm>
            <a:off x="65246250000" y="41529000000"/>
            <a:ext cx="6667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0.0%]]></a:t>
            </a:r>
          </a:p>
        </p:txBody>
      </p:sp>
      <p:sp>
        <p:nvSpPr>
          <p:cNvPr id="115" name=""/>
          <p:cNvSpPr txBox="1"/>
          <p:nvPr/>
        </p:nvSpPr>
        <p:spPr>
          <a:xfrm>
            <a:off x="1905000000" y="44100750000"/>
            <a:ext cx="2857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14]]></a:t>
            </a:r>
          </a:p>
        </p:txBody>
      </p:sp>
      <p:sp>
        <p:nvSpPr>
          <p:cNvPr id="116" name=""/>
          <p:cNvSpPr txBox="1"/>
          <p:nvPr/>
        </p:nvSpPr>
        <p:spPr>
          <a:xfrm>
            <a:off x="4762500000" y="44100750000"/>
            <a:ext cx="76200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ET040]]></a:t>
            </a:r>
          </a:p>
        </p:txBody>
      </p:sp>
      <p:sp>
        <p:nvSpPr>
          <p:cNvPr id="117" name=""/>
          <p:cNvSpPr txBox="1"/>
          <p:nvPr/>
        </p:nvSpPr>
        <p:spPr>
          <a:xfrm>
            <a:off x="12382500000" y="44100750000"/>
            <a:ext cx="16192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MICRO_PLTX_PRESIDENCE_2]]></a:t>
            </a:r>
          </a:p>
        </p:txBody>
      </p:sp>
      <p:sp>
        <p:nvSpPr>
          <p:cNvPr id="118" name=""/>
          <p:cNvSpPr txBox="1"/>
          <p:nvPr/>
        </p:nvSpPr>
        <p:spPr>
          <a:xfrm>
            <a:off x="28575000000" y="44100750000"/>
            <a:ext cx="6667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CI]]></a:t>
            </a:r>
          </a:p>
        </p:txBody>
      </p:sp>
      <p:sp>
        <p:nvSpPr>
          <p:cNvPr id="119" name=""/>
          <p:cNvSpPr txBox="1"/>
          <p:nvPr/>
        </p:nvSpPr>
        <p:spPr>
          <a:xfrm>
            <a:off x="35242500000" y="44100750000"/>
            <a:ext cx="57150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2G]]></a:t>
            </a:r>
          </a:p>
        </p:txBody>
      </p:sp>
      <p:sp>
        <p:nvSpPr>
          <p:cNvPr id="120" name=""/>
          <p:cNvSpPr txBox="1"/>
          <p:nvPr/>
        </p:nvSpPr>
        <p:spPr>
          <a:xfrm>
            <a:off x="40957500000" y="44100750000"/>
            <a:ext cx="809625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EF4444">
                    <a:alpha val="100.00%"/>
                  </a:srgbClr>
                </a:solidFill>
                <a:latin typeface="Calibri"/>
              </a:rPr>
              <a:t><![CDATA[66.7%]]></a:t>
            </a:r>
          </a:p>
        </p:txBody>
      </p:sp>
      <p:sp>
        <p:nvSpPr>
          <p:cNvPr id="121" name=""/>
          <p:cNvSpPr txBox="1"/>
          <p:nvPr/>
        </p:nvSpPr>
        <p:spPr>
          <a:xfrm>
            <a:off x="49053750000" y="44100750000"/>
            <a:ext cx="16192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Disponibilité TCH]]></a:t>
            </a:r>
          </a:p>
        </p:txBody>
      </p:sp>
      <p:sp>
        <p:nvSpPr>
          <p:cNvPr id="122" name=""/>
          <p:cNvSpPr txBox="1"/>
          <p:nvPr/>
        </p:nvSpPr>
        <p:spPr>
          <a:xfrm>
            <a:off x="65246250000" y="44100750000"/>
            <a:ext cx="6667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0.0%]]></a:t>
            </a:r>
          </a:p>
        </p:txBody>
      </p:sp>
      <p:sp>
        <p:nvSpPr>
          <p:cNvPr id="123" name=""/>
          <p:cNvSpPr txBox="1"/>
          <p:nvPr/>
        </p:nvSpPr>
        <p:spPr>
          <a:xfrm>
            <a:off x="1905000000" y="46672500000"/>
            <a:ext cx="2857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15]]></a:t>
            </a:r>
          </a:p>
        </p:txBody>
      </p:sp>
      <p:sp>
        <p:nvSpPr>
          <p:cNvPr id="124" name=""/>
          <p:cNvSpPr txBox="1"/>
          <p:nvPr/>
        </p:nvSpPr>
        <p:spPr>
          <a:xfrm>
            <a:off x="4762500000" y="46672500000"/>
            <a:ext cx="76200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ET051]]></a:t>
            </a:r>
          </a:p>
        </p:txBody>
      </p:sp>
      <p:sp>
        <p:nvSpPr>
          <p:cNvPr id="125" name=""/>
          <p:cNvSpPr txBox="1"/>
          <p:nvPr/>
        </p:nvSpPr>
        <p:spPr>
          <a:xfrm>
            <a:off x="12382500000" y="46672500000"/>
            <a:ext cx="16192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ET051]]></a:t>
            </a:r>
          </a:p>
        </p:txBody>
      </p:sp>
      <p:sp>
        <p:nvSpPr>
          <p:cNvPr id="126" name=""/>
          <p:cNvSpPr txBox="1"/>
          <p:nvPr/>
        </p:nvSpPr>
        <p:spPr>
          <a:xfrm>
            <a:off x="28575000000" y="46672500000"/>
            <a:ext cx="6667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CI]]></a:t>
            </a:r>
          </a:p>
        </p:txBody>
      </p:sp>
      <p:sp>
        <p:nvSpPr>
          <p:cNvPr id="127" name=""/>
          <p:cNvSpPr txBox="1"/>
          <p:nvPr/>
        </p:nvSpPr>
        <p:spPr>
          <a:xfrm>
            <a:off x="35242500000" y="46672500000"/>
            <a:ext cx="57150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2G]]></a:t>
            </a:r>
          </a:p>
        </p:txBody>
      </p:sp>
      <p:sp>
        <p:nvSpPr>
          <p:cNvPr id="128" name=""/>
          <p:cNvSpPr txBox="1"/>
          <p:nvPr/>
        </p:nvSpPr>
        <p:spPr>
          <a:xfrm>
            <a:off x="40957500000" y="46672500000"/>
            <a:ext cx="809625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EF4444">
                    <a:alpha val="100.00%"/>
                  </a:srgbClr>
                </a:solidFill>
                <a:latin typeface="Calibri"/>
              </a:rPr>
              <a:t><![CDATA[66.7%]]></a:t>
            </a:r>
          </a:p>
        </p:txBody>
      </p:sp>
      <p:sp>
        <p:nvSpPr>
          <p:cNvPr id="129" name=""/>
          <p:cNvSpPr txBox="1"/>
          <p:nvPr/>
        </p:nvSpPr>
        <p:spPr>
          <a:xfrm>
            <a:off x="49053750000" y="46672500000"/>
            <a:ext cx="16192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Disponibilité TCH]]></a:t>
            </a:r>
          </a:p>
        </p:txBody>
      </p:sp>
      <p:sp>
        <p:nvSpPr>
          <p:cNvPr id="130" name=""/>
          <p:cNvSpPr txBox="1"/>
          <p:nvPr/>
        </p:nvSpPr>
        <p:spPr>
          <a:xfrm>
            <a:off x="65246250000" y="46672500000"/>
            <a:ext cx="6667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0.0%]]></a:t>
            </a:r>
          </a:p>
        </p:txBody>
      </p:sp>
      <p:sp>
        <p:nvSpPr>
          <p:cNvPr id="131" name=""/>
          <p:cNvSpPr txBox="1"/>
          <p:nvPr/>
        </p:nvSpPr>
        <p:spPr>
          <a:xfrm>
            <a:off x="1905000000" y="49244250000"/>
            <a:ext cx="2857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16]]></a:t>
            </a:r>
          </a:p>
        </p:txBody>
      </p:sp>
      <p:sp>
        <p:nvSpPr>
          <p:cNvPr id="132" name=""/>
          <p:cNvSpPr txBox="1"/>
          <p:nvPr/>
        </p:nvSpPr>
        <p:spPr>
          <a:xfrm>
            <a:off x="4762500000" y="49244250000"/>
            <a:ext cx="76200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ET058]]></a:t>
            </a:r>
          </a:p>
        </p:txBody>
      </p:sp>
      <p:sp>
        <p:nvSpPr>
          <p:cNvPr id="133" name=""/>
          <p:cNvSpPr txBox="1"/>
          <p:nvPr/>
        </p:nvSpPr>
        <p:spPr>
          <a:xfrm>
            <a:off x="12382500000" y="49244250000"/>
            <a:ext cx="16192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BLANCHON_EXTENSION]]></a:t>
            </a:r>
          </a:p>
        </p:txBody>
      </p:sp>
      <p:sp>
        <p:nvSpPr>
          <p:cNvPr id="134" name=""/>
          <p:cNvSpPr txBox="1"/>
          <p:nvPr/>
        </p:nvSpPr>
        <p:spPr>
          <a:xfrm>
            <a:off x="28575000000" y="49244250000"/>
            <a:ext cx="6667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CI]]></a:t>
            </a:r>
          </a:p>
        </p:txBody>
      </p:sp>
      <p:sp>
        <p:nvSpPr>
          <p:cNvPr id="135" name=""/>
          <p:cNvSpPr txBox="1"/>
          <p:nvPr/>
        </p:nvSpPr>
        <p:spPr>
          <a:xfrm>
            <a:off x="35242500000" y="49244250000"/>
            <a:ext cx="57150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2G]]></a:t>
            </a:r>
          </a:p>
        </p:txBody>
      </p:sp>
      <p:sp>
        <p:nvSpPr>
          <p:cNvPr id="136" name=""/>
          <p:cNvSpPr txBox="1"/>
          <p:nvPr/>
        </p:nvSpPr>
        <p:spPr>
          <a:xfrm>
            <a:off x="40957500000" y="49244250000"/>
            <a:ext cx="809625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EF4444">
                    <a:alpha val="100.00%"/>
                  </a:srgbClr>
                </a:solidFill>
                <a:latin typeface="Calibri"/>
              </a:rPr>
              <a:t><![CDATA[66.7%]]></a:t>
            </a:r>
          </a:p>
        </p:txBody>
      </p:sp>
      <p:sp>
        <p:nvSpPr>
          <p:cNvPr id="137" name=""/>
          <p:cNvSpPr txBox="1"/>
          <p:nvPr/>
        </p:nvSpPr>
        <p:spPr>
          <a:xfrm>
            <a:off x="49053750000" y="49244250000"/>
            <a:ext cx="16192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Disponibilité TCH]]></a:t>
            </a:r>
          </a:p>
        </p:txBody>
      </p:sp>
      <p:sp>
        <p:nvSpPr>
          <p:cNvPr id="138" name=""/>
          <p:cNvSpPr txBox="1"/>
          <p:nvPr/>
        </p:nvSpPr>
        <p:spPr>
          <a:xfrm>
            <a:off x="65246250000" y="49244250000"/>
            <a:ext cx="6667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0.0%]]></a:t>
            </a:r>
          </a:p>
        </p:txBody>
      </p:sp>
      <p:sp>
        <p:nvSpPr>
          <p:cNvPr id="139" name=""/>
          <p:cNvSpPr txBox="1"/>
          <p:nvPr/>
        </p:nvSpPr>
        <p:spPr>
          <a:xfrm>
            <a:off x="1905000000" y="51816000000"/>
            <a:ext cx="2857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17]]></a:t>
            </a:r>
          </a:p>
        </p:txBody>
      </p:sp>
      <p:sp>
        <p:nvSpPr>
          <p:cNvPr id="140" name=""/>
          <p:cNvSpPr txBox="1"/>
          <p:nvPr/>
        </p:nvSpPr>
        <p:spPr>
          <a:xfrm>
            <a:off x="4762500000" y="51816000000"/>
            <a:ext cx="76200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ET089]]></a:t>
            </a:r>
          </a:p>
        </p:txBody>
      </p:sp>
      <p:sp>
        <p:nvSpPr>
          <p:cNvPr id="141" name=""/>
          <p:cNvSpPr txBox="1"/>
          <p:nvPr/>
        </p:nvSpPr>
        <p:spPr>
          <a:xfrm>
            <a:off x="12382500000" y="51816000000"/>
            <a:ext cx="16192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ET089]]></a:t>
            </a:r>
          </a:p>
        </p:txBody>
      </p:sp>
      <p:sp>
        <p:nvSpPr>
          <p:cNvPr id="142" name=""/>
          <p:cNvSpPr txBox="1"/>
          <p:nvPr/>
        </p:nvSpPr>
        <p:spPr>
          <a:xfrm>
            <a:off x="28575000000" y="51816000000"/>
            <a:ext cx="6667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CI]]></a:t>
            </a:r>
          </a:p>
        </p:txBody>
      </p:sp>
      <p:sp>
        <p:nvSpPr>
          <p:cNvPr id="143" name=""/>
          <p:cNvSpPr txBox="1"/>
          <p:nvPr/>
        </p:nvSpPr>
        <p:spPr>
          <a:xfrm>
            <a:off x="35242500000" y="51816000000"/>
            <a:ext cx="57150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2G]]></a:t>
            </a:r>
          </a:p>
        </p:txBody>
      </p:sp>
      <p:sp>
        <p:nvSpPr>
          <p:cNvPr id="144" name=""/>
          <p:cNvSpPr txBox="1"/>
          <p:nvPr/>
        </p:nvSpPr>
        <p:spPr>
          <a:xfrm>
            <a:off x="40957500000" y="51816000000"/>
            <a:ext cx="809625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EF4444">
                    <a:alpha val="100.00%"/>
                  </a:srgbClr>
                </a:solidFill>
                <a:latin typeface="Calibri"/>
              </a:rPr>
              <a:t><![CDATA[66.7%]]></a:t>
            </a:r>
          </a:p>
        </p:txBody>
      </p:sp>
      <p:sp>
        <p:nvSpPr>
          <p:cNvPr id="145" name=""/>
          <p:cNvSpPr txBox="1"/>
          <p:nvPr/>
        </p:nvSpPr>
        <p:spPr>
          <a:xfrm>
            <a:off x="49053750000" y="51816000000"/>
            <a:ext cx="16192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Disponibilité TCH]]></a:t>
            </a:r>
          </a:p>
        </p:txBody>
      </p:sp>
      <p:sp>
        <p:nvSpPr>
          <p:cNvPr id="146" name=""/>
          <p:cNvSpPr txBox="1"/>
          <p:nvPr/>
        </p:nvSpPr>
        <p:spPr>
          <a:xfrm>
            <a:off x="65246250000" y="51816000000"/>
            <a:ext cx="6667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0.0%]]></a:t>
            </a:r>
          </a:p>
        </p:txBody>
      </p:sp>
      <p:sp>
        <p:nvSpPr>
          <p:cNvPr id="147" name=""/>
          <p:cNvSpPr txBox="1"/>
          <p:nvPr/>
        </p:nvSpPr>
        <p:spPr>
          <a:xfrm>
            <a:off x="1905000000" y="54387750000"/>
            <a:ext cx="2857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18]]></a:t>
            </a:r>
          </a:p>
        </p:txBody>
      </p:sp>
      <p:sp>
        <p:nvSpPr>
          <p:cNvPr id="148" name=""/>
          <p:cNvSpPr txBox="1"/>
          <p:nvPr/>
        </p:nvSpPr>
        <p:spPr>
          <a:xfrm>
            <a:off x="4762500000" y="54387750000"/>
            <a:ext cx="76200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ET487]]></a:t>
            </a:r>
          </a:p>
        </p:txBody>
      </p:sp>
      <p:sp>
        <p:nvSpPr>
          <p:cNvPr id="149" name=""/>
          <p:cNvSpPr txBox="1"/>
          <p:nvPr/>
        </p:nvSpPr>
        <p:spPr>
          <a:xfrm>
            <a:off x="12382500000" y="54387750000"/>
            <a:ext cx="16192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ZUZUOKO]]></a:t>
            </a:r>
          </a:p>
        </p:txBody>
      </p:sp>
      <p:sp>
        <p:nvSpPr>
          <p:cNvPr id="150" name=""/>
          <p:cNvSpPr txBox="1"/>
          <p:nvPr/>
        </p:nvSpPr>
        <p:spPr>
          <a:xfrm>
            <a:off x="28575000000" y="54387750000"/>
            <a:ext cx="6667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CI]]></a:t>
            </a:r>
          </a:p>
        </p:txBody>
      </p:sp>
      <p:sp>
        <p:nvSpPr>
          <p:cNvPr id="151" name=""/>
          <p:cNvSpPr txBox="1"/>
          <p:nvPr/>
        </p:nvSpPr>
        <p:spPr>
          <a:xfrm>
            <a:off x="35242500000" y="54387750000"/>
            <a:ext cx="57150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2G]]></a:t>
            </a:r>
          </a:p>
        </p:txBody>
      </p:sp>
      <p:sp>
        <p:nvSpPr>
          <p:cNvPr id="152" name=""/>
          <p:cNvSpPr txBox="1"/>
          <p:nvPr/>
        </p:nvSpPr>
        <p:spPr>
          <a:xfrm>
            <a:off x="40957500000" y="54387750000"/>
            <a:ext cx="809625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EF4444">
                    <a:alpha val="100.00%"/>
                  </a:srgbClr>
                </a:solidFill>
                <a:latin typeface="Calibri"/>
              </a:rPr>
              <a:t><![CDATA[66.7%]]></a:t>
            </a:r>
          </a:p>
        </p:txBody>
      </p:sp>
      <p:sp>
        <p:nvSpPr>
          <p:cNvPr id="153" name=""/>
          <p:cNvSpPr txBox="1"/>
          <p:nvPr/>
        </p:nvSpPr>
        <p:spPr>
          <a:xfrm>
            <a:off x="49053750000" y="54387750000"/>
            <a:ext cx="16192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Disponibilité TCH]]></a:t>
            </a:r>
          </a:p>
        </p:txBody>
      </p:sp>
      <p:sp>
        <p:nvSpPr>
          <p:cNvPr id="154" name=""/>
          <p:cNvSpPr txBox="1"/>
          <p:nvPr/>
        </p:nvSpPr>
        <p:spPr>
          <a:xfrm>
            <a:off x="65246250000" y="54387750000"/>
            <a:ext cx="6667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0.0%]]></a:t>
            </a:r>
          </a:p>
        </p:txBody>
      </p:sp>
      <p:sp>
        <p:nvSpPr>
          <p:cNvPr id="155" name=""/>
          <p:cNvSpPr txBox="1"/>
          <p:nvPr/>
        </p:nvSpPr>
        <p:spPr>
          <a:xfrm>
            <a:off x="1905000000" y="56959500000"/>
            <a:ext cx="2857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19]]></a:t>
            </a:r>
          </a:p>
        </p:txBody>
      </p:sp>
      <p:sp>
        <p:nvSpPr>
          <p:cNvPr id="156" name=""/>
          <p:cNvSpPr txBox="1"/>
          <p:nvPr/>
        </p:nvSpPr>
        <p:spPr>
          <a:xfrm>
            <a:off x="4762500000" y="56959500000"/>
            <a:ext cx="76200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ET704]]></a:t>
            </a:r>
          </a:p>
        </p:txBody>
      </p:sp>
      <p:sp>
        <p:nvSpPr>
          <p:cNvPr id="157" name=""/>
          <p:cNvSpPr txBox="1"/>
          <p:nvPr/>
        </p:nvSpPr>
        <p:spPr>
          <a:xfrm>
            <a:off x="12382500000" y="56959500000"/>
            <a:ext cx="16192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BINGES_GBAGBA]]></a:t>
            </a:r>
          </a:p>
        </p:txBody>
      </p:sp>
      <p:sp>
        <p:nvSpPr>
          <p:cNvPr id="158" name=""/>
          <p:cNvSpPr txBox="1"/>
          <p:nvPr/>
        </p:nvSpPr>
        <p:spPr>
          <a:xfrm>
            <a:off x="28575000000" y="56959500000"/>
            <a:ext cx="6667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CI]]></a:t>
            </a:r>
          </a:p>
        </p:txBody>
      </p:sp>
      <p:sp>
        <p:nvSpPr>
          <p:cNvPr id="159" name=""/>
          <p:cNvSpPr txBox="1"/>
          <p:nvPr/>
        </p:nvSpPr>
        <p:spPr>
          <a:xfrm>
            <a:off x="35242500000" y="56959500000"/>
            <a:ext cx="57150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2G]]></a:t>
            </a:r>
          </a:p>
        </p:txBody>
      </p:sp>
      <p:sp>
        <p:nvSpPr>
          <p:cNvPr id="160" name=""/>
          <p:cNvSpPr txBox="1"/>
          <p:nvPr/>
        </p:nvSpPr>
        <p:spPr>
          <a:xfrm>
            <a:off x="40957500000" y="56959500000"/>
            <a:ext cx="809625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EF4444">
                    <a:alpha val="100.00%"/>
                  </a:srgbClr>
                </a:solidFill>
                <a:latin typeface="Calibri"/>
              </a:rPr>
              <a:t><![CDATA[66.7%]]></a:t>
            </a:r>
          </a:p>
        </p:txBody>
      </p:sp>
      <p:sp>
        <p:nvSpPr>
          <p:cNvPr id="161" name=""/>
          <p:cNvSpPr txBox="1"/>
          <p:nvPr/>
        </p:nvSpPr>
        <p:spPr>
          <a:xfrm>
            <a:off x="49053750000" y="56959500000"/>
            <a:ext cx="16192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Disponibilité TCH]]></a:t>
            </a:r>
          </a:p>
        </p:txBody>
      </p:sp>
      <p:sp>
        <p:nvSpPr>
          <p:cNvPr id="162" name=""/>
          <p:cNvSpPr txBox="1"/>
          <p:nvPr/>
        </p:nvSpPr>
        <p:spPr>
          <a:xfrm>
            <a:off x="65246250000" y="56959500000"/>
            <a:ext cx="6667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0.0%]]></a:t>
            </a:r>
          </a:p>
        </p:txBody>
      </p:sp>
      <p:sp>
        <p:nvSpPr>
          <p:cNvPr id="163" name=""/>
          <p:cNvSpPr txBox="1"/>
          <p:nvPr/>
        </p:nvSpPr>
        <p:spPr>
          <a:xfrm>
            <a:off x="1905000000" y="59531250000"/>
            <a:ext cx="2857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20]]></a:t>
            </a:r>
          </a:p>
        </p:txBody>
      </p:sp>
      <p:sp>
        <p:nvSpPr>
          <p:cNvPr id="164" name=""/>
          <p:cNvSpPr txBox="1"/>
          <p:nvPr/>
        </p:nvSpPr>
        <p:spPr>
          <a:xfrm>
            <a:off x="4762500000" y="59531250000"/>
            <a:ext cx="76200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ET706]]></a:t>
            </a:r>
          </a:p>
        </p:txBody>
      </p:sp>
      <p:sp>
        <p:nvSpPr>
          <p:cNvPr id="165" name=""/>
          <p:cNvSpPr txBox="1"/>
          <p:nvPr/>
        </p:nvSpPr>
        <p:spPr>
          <a:xfrm>
            <a:off x="12382500000" y="59531250000"/>
            <a:ext cx="16192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GLOPLOU]]></a:t>
            </a:r>
          </a:p>
        </p:txBody>
      </p:sp>
      <p:sp>
        <p:nvSpPr>
          <p:cNvPr id="166" name=""/>
          <p:cNvSpPr txBox="1"/>
          <p:nvPr/>
        </p:nvSpPr>
        <p:spPr>
          <a:xfrm>
            <a:off x="28575000000" y="59531250000"/>
            <a:ext cx="6667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CI]]></a:t>
            </a:r>
          </a:p>
        </p:txBody>
      </p:sp>
      <p:sp>
        <p:nvSpPr>
          <p:cNvPr id="167" name=""/>
          <p:cNvSpPr txBox="1"/>
          <p:nvPr/>
        </p:nvSpPr>
        <p:spPr>
          <a:xfrm>
            <a:off x="35242500000" y="59531250000"/>
            <a:ext cx="57150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2G]]></a:t>
            </a:r>
          </a:p>
        </p:txBody>
      </p:sp>
      <p:sp>
        <p:nvSpPr>
          <p:cNvPr id="168" name=""/>
          <p:cNvSpPr txBox="1"/>
          <p:nvPr/>
        </p:nvSpPr>
        <p:spPr>
          <a:xfrm>
            <a:off x="40957500000" y="59531250000"/>
            <a:ext cx="809625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EF4444">
                    <a:alpha val="100.00%"/>
                  </a:srgbClr>
                </a:solidFill>
                <a:latin typeface="Calibri"/>
              </a:rPr>
              <a:t><![CDATA[66.7%]]></a:t>
            </a:r>
          </a:p>
        </p:txBody>
      </p:sp>
      <p:sp>
        <p:nvSpPr>
          <p:cNvPr id="169" name=""/>
          <p:cNvSpPr txBox="1"/>
          <p:nvPr/>
        </p:nvSpPr>
        <p:spPr>
          <a:xfrm>
            <a:off x="49053750000" y="59531250000"/>
            <a:ext cx="16192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Disponibilité TCH]]></a:t>
            </a:r>
          </a:p>
        </p:txBody>
      </p:sp>
      <p:sp>
        <p:nvSpPr>
          <p:cNvPr id="170" name=""/>
          <p:cNvSpPr txBox="1"/>
          <p:nvPr/>
        </p:nvSpPr>
        <p:spPr>
          <a:xfrm>
            <a:off x="65246250000" y="59531250000"/>
            <a:ext cx="6667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0.0%]]></a:t>
            </a:r>
          </a:p>
        </p:txBody>
      </p:sp>
      <p:sp>
        <p:nvSpPr>
          <p:cNvPr id="171" name=""/>
          <p:cNvSpPr txBox="1"/>
          <p:nvPr/>
        </p:nvSpPr>
        <p:spPr>
          <a:xfrm>
            <a:off x="1905000000" y="62103000000"/>
            <a:ext cx="2857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21]]></a:t>
            </a:r>
          </a:p>
        </p:txBody>
      </p:sp>
      <p:sp>
        <p:nvSpPr>
          <p:cNvPr id="172" name=""/>
          <p:cNvSpPr txBox="1"/>
          <p:nvPr/>
        </p:nvSpPr>
        <p:spPr>
          <a:xfrm>
            <a:off x="4762500000" y="62103000000"/>
            <a:ext cx="76200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ET803]]></a:t>
            </a:r>
          </a:p>
        </p:txBody>
      </p:sp>
      <p:sp>
        <p:nvSpPr>
          <p:cNvPr id="173" name=""/>
          <p:cNvSpPr txBox="1"/>
          <p:nvPr/>
        </p:nvSpPr>
        <p:spPr>
          <a:xfrm>
            <a:off x="12382500000" y="62103000000"/>
            <a:ext cx="16192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ABOBO_AVOCATIER_2 CHATEAUX]]></a:t>
            </a:r>
          </a:p>
        </p:txBody>
      </p:sp>
      <p:sp>
        <p:nvSpPr>
          <p:cNvPr id="174" name=""/>
          <p:cNvSpPr txBox="1"/>
          <p:nvPr/>
        </p:nvSpPr>
        <p:spPr>
          <a:xfrm>
            <a:off x="28575000000" y="62103000000"/>
            <a:ext cx="6667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CI]]></a:t>
            </a:r>
          </a:p>
        </p:txBody>
      </p:sp>
      <p:sp>
        <p:nvSpPr>
          <p:cNvPr id="175" name=""/>
          <p:cNvSpPr txBox="1"/>
          <p:nvPr/>
        </p:nvSpPr>
        <p:spPr>
          <a:xfrm>
            <a:off x="35242500000" y="62103000000"/>
            <a:ext cx="57150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2G]]></a:t>
            </a:r>
          </a:p>
        </p:txBody>
      </p:sp>
      <p:sp>
        <p:nvSpPr>
          <p:cNvPr id="176" name=""/>
          <p:cNvSpPr txBox="1"/>
          <p:nvPr/>
        </p:nvSpPr>
        <p:spPr>
          <a:xfrm>
            <a:off x="40957500000" y="62103000000"/>
            <a:ext cx="809625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EF4444">
                    <a:alpha val="100.00%"/>
                  </a:srgbClr>
                </a:solidFill>
                <a:latin typeface="Calibri"/>
              </a:rPr>
              <a:t><![CDATA[66.7%]]></a:t>
            </a:r>
          </a:p>
        </p:txBody>
      </p:sp>
      <p:sp>
        <p:nvSpPr>
          <p:cNvPr id="177" name=""/>
          <p:cNvSpPr txBox="1"/>
          <p:nvPr/>
        </p:nvSpPr>
        <p:spPr>
          <a:xfrm>
            <a:off x="49053750000" y="62103000000"/>
            <a:ext cx="16192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Disponibilité TCH]]></a:t>
            </a:r>
          </a:p>
        </p:txBody>
      </p:sp>
      <p:sp>
        <p:nvSpPr>
          <p:cNvPr id="178" name=""/>
          <p:cNvSpPr txBox="1"/>
          <p:nvPr/>
        </p:nvSpPr>
        <p:spPr>
          <a:xfrm>
            <a:off x="65246250000" y="62103000000"/>
            <a:ext cx="6667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0.0%]]></a:t>
            </a:r>
          </a:p>
        </p:txBody>
      </p:sp>
      <p:sp>
        <p:nvSpPr>
          <p:cNvPr id="179" name=""/>
          <p:cNvSpPr txBox="1"/>
          <p:nvPr/>
        </p:nvSpPr>
        <p:spPr>
          <a:xfrm>
            <a:off x="1905000000" y="64674750000"/>
            <a:ext cx="2857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22]]></a:t>
            </a:r>
          </a:p>
        </p:txBody>
      </p:sp>
      <p:sp>
        <p:nvSpPr>
          <p:cNvPr id="180" name=""/>
          <p:cNvSpPr txBox="1"/>
          <p:nvPr/>
        </p:nvSpPr>
        <p:spPr>
          <a:xfrm>
            <a:off x="4762500000" y="64674750000"/>
            <a:ext cx="76200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ET860]]></a:t>
            </a:r>
          </a:p>
        </p:txBody>
      </p:sp>
      <p:sp>
        <p:nvSpPr>
          <p:cNvPr id="181" name=""/>
          <p:cNvSpPr txBox="1"/>
          <p:nvPr/>
        </p:nvSpPr>
        <p:spPr>
          <a:xfrm>
            <a:off x="12382500000" y="64674750000"/>
            <a:ext cx="16192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SERIHIO]]></a:t>
            </a:r>
          </a:p>
        </p:txBody>
      </p:sp>
      <p:sp>
        <p:nvSpPr>
          <p:cNvPr id="182" name=""/>
          <p:cNvSpPr txBox="1"/>
          <p:nvPr/>
        </p:nvSpPr>
        <p:spPr>
          <a:xfrm>
            <a:off x="28575000000" y="64674750000"/>
            <a:ext cx="6667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CI]]></a:t>
            </a:r>
          </a:p>
        </p:txBody>
      </p:sp>
      <p:sp>
        <p:nvSpPr>
          <p:cNvPr id="183" name=""/>
          <p:cNvSpPr txBox="1"/>
          <p:nvPr/>
        </p:nvSpPr>
        <p:spPr>
          <a:xfrm>
            <a:off x="35242500000" y="64674750000"/>
            <a:ext cx="57150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2G]]></a:t>
            </a:r>
          </a:p>
        </p:txBody>
      </p:sp>
      <p:sp>
        <p:nvSpPr>
          <p:cNvPr id="184" name=""/>
          <p:cNvSpPr txBox="1"/>
          <p:nvPr/>
        </p:nvSpPr>
        <p:spPr>
          <a:xfrm>
            <a:off x="40957500000" y="64674750000"/>
            <a:ext cx="809625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EF4444">
                    <a:alpha val="100.00%"/>
                  </a:srgbClr>
                </a:solidFill>
                <a:latin typeface="Calibri"/>
              </a:rPr>
              <a:t><![CDATA[66.7%]]></a:t>
            </a:r>
          </a:p>
        </p:txBody>
      </p:sp>
      <p:sp>
        <p:nvSpPr>
          <p:cNvPr id="185" name=""/>
          <p:cNvSpPr txBox="1"/>
          <p:nvPr/>
        </p:nvSpPr>
        <p:spPr>
          <a:xfrm>
            <a:off x="49053750000" y="64674750000"/>
            <a:ext cx="16192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Disponibilité TCH]]></a:t>
            </a:r>
          </a:p>
        </p:txBody>
      </p:sp>
      <p:sp>
        <p:nvSpPr>
          <p:cNvPr id="186" name=""/>
          <p:cNvSpPr txBox="1"/>
          <p:nvPr/>
        </p:nvSpPr>
        <p:spPr>
          <a:xfrm>
            <a:off x="65246250000" y="64674750000"/>
            <a:ext cx="6667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0.0%]]></a:t>
            </a:r>
          </a:p>
        </p:txBody>
      </p:sp>
      <p:sp>
        <p:nvSpPr>
          <p:cNvPr id="187" name=""/>
          <p:cNvSpPr txBox="1"/>
          <p:nvPr/>
        </p:nvSpPr>
        <p:spPr>
          <a:xfrm>
            <a:off x="1905000000" y="67246500000"/>
            <a:ext cx="2857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23]]></a:t>
            </a:r>
          </a:p>
        </p:txBody>
      </p:sp>
      <p:sp>
        <p:nvSpPr>
          <p:cNvPr id="188" name=""/>
          <p:cNvSpPr txBox="1"/>
          <p:nvPr/>
        </p:nvSpPr>
        <p:spPr>
          <a:xfrm>
            <a:off x="4762500000" y="67246500000"/>
            <a:ext cx="76200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ET934]]></a:t>
            </a:r>
          </a:p>
        </p:txBody>
      </p:sp>
      <p:sp>
        <p:nvSpPr>
          <p:cNvPr id="189" name=""/>
          <p:cNvSpPr txBox="1"/>
          <p:nvPr/>
        </p:nvSpPr>
        <p:spPr>
          <a:xfrm>
            <a:off x="12382500000" y="67246500000"/>
            <a:ext cx="16192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ABOBO_SAGBE_BOCABO]]></a:t>
            </a:r>
          </a:p>
        </p:txBody>
      </p:sp>
      <p:sp>
        <p:nvSpPr>
          <p:cNvPr id="190" name=""/>
          <p:cNvSpPr txBox="1"/>
          <p:nvPr/>
        </p:nvSpPr>
        <p:spPr>
          <a:xfrm>
            <a:off x="28575000000" y="67246500000"/>
            <a:ext cx="6667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CI]]></a:t>
            </a:r>
          </a:p>
        </p:txBody>
      </p:sp>
      <p:sp>
        <p:nvSpPr>
          <p:cNvPr id="191" name=""/>
          <p:cNvSpPr txBox="1"/>
          <p:nvPr/>
        </p:nvSpPr>
        <p:spPr>
          <a:xfrm>
            <a:off x="35242500000" y="67246500000"/>
            <a:ext cx="57150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2G]]></a:t>
            </a:r>
          </a:p>
        </p:txBody>
      </p:sp>
      <p:sp>
        <p:nvSpPr>
          <p:cNvPr id="192" name=""/>
          <p:cNvSpPr txBox="1"/>
          <p:nvPr/>
        </p:nvSpPr>
        <p:spPr>
          <a:xfrm>
            <a:off x="40957500000" y="67246500000"/>
            <a:ext cx="809625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EF4444">
                    <a:alpha val="100.00%"/>
                  </a:srgbClr>
                </a:solidFill>
                <a:latin typeface="Calibri"/>
              </a:rPr>
              <a:t><![CDATA[66.7%]]></a:t>
            </a:r>
          </a:p>
        </p:txBody>
      </p:sp>
      <p:sp>
        <p:nvSpPr>
          <p:cNvPr id="193" name=""/>
          <p:cNvSpPr txBox="1"/>
          <p:nvPr/>
        </p:nvSpPr>
        <p:spPr>
          <a:xfrm>
            <a:off x="49053750000" y="67246500000"/>
            <a:ext cx="16192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Disponibilité TCH]]></a:t>
            </a:r>
          </a:p>
        </p:txBody>
      </p:sp>
      <p:sp>
        <p:nvSpPr>
          <p:cNvPr id="194" name=""/>
          <p:cNvSpPr txBox="1"/>
          <p:nvPr/>
        </p:nvSpPr>
        <p:spPr>
          <a:xfrm>
            <a:off x="65246250000" y="67246500000"/>
            <a:ext cx="6667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0.0%]]></a:t>
            </a:r>
          </a:p>
        </p:txBody>
      </p:sp>
      <p:sp>
        <p:nvSpPr>
          <p:cNvPr id="195" name=""/>
          <p:cNvSpPr txBox="1"/>
          <p:nvPr/>
        </p:nvSpPr>
        <p:spPr>
          <a:xfrm>
            <a:off x="1905000000" y="69818250000"/>
            <a:ext cx="2857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24]]></a:t>
            </a:r>
          </a:p>
        </p:txBody>
      </p:sp>
      <p:sp>
        <p:nvSpPr>
          <p:cNvPr id="196" name=""/>
          <p:cNvSpPr txBox="1"/>
          <p:nvPr/>
        </p:nvSpPr>
        <p:spPr>
          <a:xfrm>
            <a:off x="4762500000" y="69818250000"/>
            <a:ext cx="76200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IM072]]></a:t>
            </a:r>
          </a:p>
        </p:txBody>
      </p:sp>
      <p:sp>
        <p:nvSpPr>
          <p:cNvPr id="197" name=""/>
          <p:cNvSpPr txBox="1"/>
          <p:nvPr/>
        </p:nvSpPr>
        <p:spPr>
          <a:xfrm>
            <a:off x="12382500000" y="69818250000"/>
            <a:ext cx="16192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RURAL_FOUMBOLO]]></a:t>
            </a:r>
          </a:p>
        </p:txBody>
      </p:sp>
      <p:sp>
        <p:nvSpPr>
          <p:cNvPr id="198" name=""/>
          <p:cNvSpPr txBox="1"/>
          <p:nvPr/>
        </p:nvSpPr>
        <p:spPr>
          <a:xfrm>
            <a:off x="28575000000" y="69818250000"/>
            <a:ext cx="6667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CI]]></a:t>
            </a:r>
          </a:p>
        </p:txBody>
      </p:sp>
      <p:sp>
        <p:nvSpPr>
          <p:cNvPr id="199" name=""/>
          <p:cNvSpPr txBox="1"/>
          <p:nvPr/>
        </p:nvSpPr>
        <p:spPr>
          <a:xfrm>
            <a:off x="35242500000" y="69818250000"/>
            <a:ext cx="57150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2G]]></a:t>
            </a:r>
          </a:p>
        </p:txBody>
      </p:sp>
      <p:sp>
        <p:nvSpPr>
          <p:cNvPr id="200" name=""/>
          <p:cNvSpPr txBox="1"/>
          <p:nvPr/>
        </p:nvSpPr>
        <p:spPr>
          <a:xfrm>
            <a:off x="40957500000" y="69818250000"/>
            <a:ext cx="809625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EF4444">
                    <a:alpha val="100.00%"/>
                  </a:srgbClr>
                </a:solidFill>
                <a:latin typeface="Calibri"/>
              </a:rPr>
              <a:t><![CDATA[66.7%]]></a:t>
            </a:r>
          </a:p>
        </p:txBody>
      </p:sp>
      <p:sp>
        <p:nvSpPr>
          <p:cNvPr id="201" name=""/>
          <p:cNvSpPr txBox="1"/>
          <p:nvPr/>
        </p:nvSpPr>
        <p:spPr>
          <a:xfrm>
            <a:off x="49053750000" y="69818250000"/>
            <a:ext cx="16192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Disponibilité TCH]]></a:t>
            </a:r>
          </a:p>
        </p:txBody>
      </p:sp>
      <p:sp>
        <p:nvSpPr>
          <p:cNvPr id="202" name=""/>
          <p:cNvSpPr txBox="1"/>
          <p:nvPr/>
        </p:nvSpPr>
        <p:spPr>
          <a:xfrm>
            <a:off x="65246250000" y="69818250000"/>
            <a:ext cx="6667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0.0%]]></a:t>
            </a:r>
          </a:p>
        </p:txBody>
      </p:sp>
      <p:sp>
        <p:nvSpPr>
          <p:cNvPr id="203" name=""/>
          <p:cNvSpPr txBox="1"/>
          <p:nvPr/>
        </p:nvSpPr>
        <p:spPr>
          <a:xfrm>
            <a:off x="1905000000" y="72390000000"/>
            <a:ext cx="2857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25]]></a:t>
            </a:r>
          </a:p>
        </p:txBody>
      </p:sp>
      <p:sp>
        <p:nvSpPr>
          <p:cNvPr id="204" name=""/>
          <p:cNvSpPr txBox="1"/>
          <p:nvPr/>
        </p:nvSpPr>
        <p:spPr>
          <a:xfrm>
            <a:off x="4762500000" y="72390000000"/>
            <a:ext cx="76200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IM085]]></a:t>
            </a:r>
          </a:p>
        </p:txBody>
      </p:sp>
      <p:sp>
        <p:nvSpPr>
          <p:cNvPr id="205" name=""/>
          <p:cNvSpPr txBox="1"/>
          <p:nvPr/>
        </p:nvSpPr>
        <p:spPr>
          <a:xfrm>
            <a:off x="12382500000" y="72390000000"/>
            <a:ext cx="16192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RURAL_GOUEHIZRA]]></a:t>
            </a:r>
          </a:p>
        </p:txBody>
      </p:sp>
      <p:sp>
        <p:nvSpPr>
          <p:cNvPr id="206" name=""/>
          <p:cNvSpPr txBox="1"/>
          <p:nvPr/>
        </p:nvSpPr>
        <p:spPr>
          <a:xfrm>
            <a:off x="28575000000" y="72390000000"/>
            <a:ext cx="6667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CI]]></a:t>
            </a:r>
          </a:p>
        </p:txBody>
      </p:sp>
      <p:sp>
        <p:nvSpPr>
          <p:cNvPr id="207" name=""/>
          <p:cNvSpPr txBox="1"/>
          <p:nvPr/>
        </p:nvSpPr>
        <p:spPr>
          <a:xfrm>
            <a:off x="35242500000" y="72390000000"/>
            <a:ext cx="57150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2G]]></a:t>
            </a:r>
          </a:p>
        </p:txBody>
      </p:sp>
      <p:sp>
        <p:nvSpPr>
          <p:cNvPr id="208" name=""/>
          <p:cNvSpPr txBox="1"/>
          <p:nvPr/>
        </p:nvSpPr>
        <p:spPr>
          <a:xfrm>
            <a:off x="40957500000" y="72390000000"/>
            <a:ext cx="809625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EF4444">
                    <a:alpha val="100.00%"/>
                  </a:srgbClr>
                </a:solidFill>
                <a:latin typeface="Calibri"/>
              </a:rPr>
              <a:t><![CDATA[66.7%]]></a:t>
            </a:r>
          </a:p>
        </p:txBody>
      </p:sp>
      <p:sp>
        <p:nvSpPr>
          <p:cNvPr id="209" name=""/>
          <p:cNvSpPr txBox="1"/>
          <p:nvPr/>
        </p:nvSpPr>
        <p:spPr>
          <a:xfrm>
            <a:off x="49053750000" y="72390000000"/>
            <a:ext cx="16192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Disponibilité TCH]]></a:t>
            </a:r>
          </a:p>
        </p:txBody>
      </p:sp>
      <p:sp>
        <p:nvSpPr>
          <p:cNvPr id="210" name=""/>
          <p:cNvSpPr txBox="1"/>
          <p:nvPr/>
        </p:nvSpPr>
        <p:spPr>
          <a:xfrm>
            <a:off x="65246250000" y="72390000000"/>
            <a:ext cx="6667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0.0%]]></a:t>
            </a:r>
          </a:p>
        </p:txBody>
      </p:sp>
      <p:sp>
        <p:nvSpPr>
          <p:cNvPr id="211" name=""/>
          <p:cNvSpPr txBox="1"/>
          <p:nvPr/>
        </p:nvSpPr>
        <p:spPr>
          <a:xfrm>
            <a:off x="1905000000" y="74961750000"/>
            <a:ext cx="2857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26]]></a:t>
            </a:r>
          </a:p>
        </p:txBody>
      </p:sp>
      <p:sp>
        <p:nvSpPr>
          <p:cNvPr id="212" name=""/>
          <p:cNvSpPr txBox="1"/>
          <p:nvPr/>
        </p:nvSpPr>
        <p:spPr>
          <a:xfrm>
            <a:off x="4762500000" y="74961750000"/>
            <a:ext cx="76200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IM261]]></a:t>
            </a:r>
          </a:p>
        </p:txBody>
      </p:sp>
      <p:sp>
        <p:nvSpPr>
          <p:cNvPr id="213" name=""/>
          <p:cNvSpPr txBox="1"/>
          <p:nvPr/>
        </p:nvSpPr>
        <p:spPr>
          <a:xfrm>
            <a:off x="12382500000" y="74961750000"/>
            <a:ext cx="16192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GOGOHOURI]]></a:t>
            </a:r>
          </a:p>
        </p:txBody>
      </p:sp>
      <p:sp>
        <p:nvSpPr>
          <p:cNvPr id="214" name=""/>
          <p:cNvSpPr txBox="1"/>
          <p:nvPr/>
        </p:nvSpPr>
        <p:spPr>
          <a:xfrm>
            <a:off x="28575000000" y="74961750000"/>
            <a:ext cx="6667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CI]]></a:t>
            </a:r>
          </a:p>
        </p:txBody>
      </p:sp>
      <p:sp>
        <p:nvSpPr>
          <p:cNvPr id="215" name=""/>
          <p:cNvSpPr txBox="1"/>
          <p:nvPr/>
        </p:nvSpPr>
        <p:spPr>
          <a:xfrm>
            <a:off x="35242500000" y="74961750000"/>
            <a:ext cx="57150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2G]]></a:t>
            </a:r>
          </a:p>
        </p:txBody>
      </p:sp>
      <p:sp>
        <p:nvSpPr>
          <p:cNvPr id="216" name=""/>
          <p:cNvSpPr txBox="1"/>
          <p:nvPr/>
        </p:nvSpPr>
        <p:spPr>
          <a:xfrm>
            <a:off x="40957500000" y="74961750000"/>
            <a:ext cx="809625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EF4444">
                    <a:alpha val="100.00%"/>
                  </a:srgbClr>
                </a:solidFill>
                <a:latin typeface="Calibri"/>
              </a:rPr>
              <a:t><![CDATA[66.7%]]></a:t>
            </a:r>
          </a:p>
        </p:txBody>
      </p:sp>
      <p:sp>
        <p:nvSpPr>
          <p:cNvPr id="217" name=""/>
          <p:cNvSpPr txBox="1"/>
          <p:nvPr/>
        </p:nvSpPr>
        <p:spPr>
          <a:xfrm>
            <a:off x="49053750000" y="74961750000"/>
            <a:ext cx="16192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Disponibilité TCH]]></a:t>
            </a:r>
          </a:p>
        </p:txBody>
      </p:sp>
      <p:sp>
        <p:nvSpPr>
          <p:cNvPr id="218" name=""/>
          <p:cNvSpPr txBox="1"/>
          <p:nvPr/>
        </p:nvSpPr>
        <p:spPr>
          <a:xfrm>
            <a:off x="65246250000" y="74961750000"/>
            <a:ext cx="6667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0.0%]]></a:t>
            </a:r>
          </a:p>
        </p:txBody>
      </p:sp>
      <p:sp>
        <p:nvSpPr>
          <p:cNvPr id="219" name=""/>
          <p:cNvSpPr txBox="1"/>
          <p:nvPr/>
        </p:nvSpPr>
        <p:spPr>
          <a:xfrm>
            <a:off x="1905000000" y="77533500000"/>
            <a:ext cx="2857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27]]></a:t>
            </a:r>
          </a:p>
        </p:txBody>
      </p:sp>
      <p:sp>
        <p:nvSpPr>
          <p:cNvPr id="220" name=""/>
          <p:cNvSpPr txBox="1"/>
          <p:nvPr/>
        </p:nvSpPr>
        <p:spPr>
          <a:xfrm>
            <a:off x="4762500000" y="77533500000"/>
            <a:ext cx="76200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IM356]]></a:t>
            </a:r>
          </a:p>
        </p:txBody>
      </p:sp>
      <p:sp>
        <p:nvSpPr>
          <p:cNvPr id="221" name=""/>
          <p:cNvSpPr txBox="1"/>
          <p:nvPr/>
        </p:nvSpPr>
        <p:spPr>
          <a:xfrm>
            <a:off x="12382500000" y="77533500000"/>
            <a:ext cx="16192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IM356]]></a:t>
            </a:r>
          </a:p>
        </p:txBody>
      </p:sp>
      <p:sp>
        <p:nvSpPr>
          <p:cNvPr id="222" name=""/>
          <p:cNvSpPr txBox="1"/>
          <p:nvPr/>
        </p:nvSpPr>
        <p:spPr>
          <a:xfrm>
            <a:off x="28575000000" y="77533500000"/>
            <a:ext cx="6667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CI]]></a:t>
            </a:r>
          </a:p>
        </p:txBody>
      </p:sp>
      <p:sp>
        <p:nvSpPr>
          <p:cNvPr id="223" name=""/>
          <p:cNvSpPr txBox="1"/>
          <p:nvPr/>
        </p:nvSpPr>
        <p:spPr>
          <a:xfrm>
            <a:off x="35242500000" y="77533500000"/>
            <a:ext cx="57150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2G]]></a:t>
            </a:r>
          </a:p>
        </p:txBody>
      </p:sp>
      <p:sp>
        <p:nvSpPr>
          <p:cNvPr id="224" name=""/>
          <p:cNvSpPr txBox="1"/>
          <p:nvPr/>
        </p:nvSpPr>
        <p:spPr>
          <a:xfrm>
            <a:off x="40957500000" y="77533500000"/>
            <a:ext cx="809625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EF4444">
                    <a:alpha val="100.00%"/>
                  </a:srgbClr>
                </a:solidFill>
                <a:latin typeface="Calibri"/>
              </a:rPr>
              <a:t><![CDATA[66.7%]]></a:t>
            </a:r>
          </a:p>
        </p:txBody>
      </p:sp>
      <p:sp>
        <p:nvSpPr>
          <p:cNvPr id="225" name=""/>
          <p:cNvSpPr txBox="1"/>
          <p:nvPr/>
        </p:nvSpPr>
        <p:spPr>
          <a:xfrm>
            <a:off x="49053750000" y="77533500000"/>
            <a:ext cx="16192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Disponibilité TCH]]></a:t>
            </a:r>
          </a:p>
        </p:txBody>
      </p:sp>
      <p:sp>
        <p:nvSpPr>
          <p:cNvPr id="226" name=""/>
          <p:cNvSpPr txBox="1"/>
          <p:nvPr/>
        </p:nvSpPr>
        <p:spPr>
          <a:xfrm>
            <a:off x="65246250000" y="77533500000"/>
            <a:ext cx="6667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0.0%]]></a:t>
            </a:r>
          </a:p>
        </p:txBody>
      </p:sp>
      <p:sp>
        <p:nvSpPr>
          <p:cNvPr id="227" name=""/>
          <p:cNvSpPr txBox="1"/>
          <p:nvPr/>
        </p:nvSpPr>
        <p:spPr>
          <a:xfrm>
            <a:off x="1905000000" y="80105250000"/>
            <a:ext cx="2857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28]]></a:t>
            </a:r>
          </a:p>
        </p:txBody>
      </p:sp>
      <p:sp>
        <p:nvSpPr>
          <p:cNvPr id="228" name=""/>
          <p:cNvSpPr txBox="1"/>
          <p:nvPr/>
        </p:nvSpPr>
        <p:spPr>
          <a:xfrm>
            <a:off x="4762500000" y="80105250000"/>
            <a:ext cx="76200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IM426]]></a:t>
            </a:r>
          </a:p>
        </p:txBody>
      </p:sp>
      <p:sp>
        <p:nvSpPr>
          <p:cNvPr id="229" name=""/>
          <p:cNvSpPr txBox="1"/>
          <p:nvPr/>
        </p:nvSpPr>
        <p:spPr>
          <a:xfrm>
            <a:off x="12382500000" y="80105250000"/>
            <a:ext cx="16192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DIABOUO_R]]></a:t>
            </a:r>
          </a:p>
        </p:txBody>
      </p:sp>
      <p:sp>
        <p:nvSpPr>
          <p:cNvPr id="230" name=""/>
          <p:cNvSpPr txBox="1"/>
          <p:nvPr/>
        </p:nvSpPr>
        <p:spPr>
          <a:xfrm>
            <a:off x="28575000000" y="80105250000"/>
            <a:ext cx="6667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CI]]></a:t>
            </a:r>
          </a:p>
        </p:txBody>
      </p:sp>
      <p:sp>
        <p:nvSpPr>
          <p:cNvPr id="231" name=""/>
          <p:cNvSpPr txBox="1"/>
          <p:nvPr/>
        </p:nvSpPr>
        <p:spPr>
          <a:xfrm>
            <a:off x="35242500000" y="80105250000"/>
            <a:ext cx="57150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2G]]></a:t>
            </a:r>
          </a:p>
        </p:txBody>
      </p:sp>
      <p:sp>
        <p:nvSpPr>
          <p:cNvPr id="232" name=""/>
          <p:cNvSpPr txBox="1"/>
          <p:nvPr/>
        </p:nvSpPr>
        <p:spPr>
          <a:xfrm>
            <a:off x="40957500000" y="80105250000"/>
            <a:ext cx="809625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EF4444">
                    <a:alpha val="100.00%"/>
                  </a:srgbClr>
                </a:solidFill>
                <a:latin typeface="Calibri"/>
              </a:rPr>
              <a:t><![CDATA[66.7%]]></a:t>
            </a:r>
          </a:p>
        </p:txBody>
      </p:sp>
      <p:sp>
        <p:nvSpPr>
          <p:cNvPr id="233" name=""/>
          <p:cNvSpPr txBox="1"/>
          <p:nvPr/>
        </p:nvSpPr>
        <p:spPr>
          <a:xfrm>
            <a:off x="49053750000" y="80105250000"/>
            <a:ext cx="16192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Disponibilité TCH]]></a:t>
            </a:r>
          </a:p>
        </p:txBody>
      </p:sp>
      <p:sp>
        <p:nvSpPr>
          <p:cNvPr id="234" name=""/>
          <p:cNvSpPr txBox="1"/>
          <p:nvPr/>
        </p:nvSpPr>
        <p:spPr>
          <a:xfrm>
            <a:off x="65246250000" y="80105250000"/>
            <a:ext cx="6667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0.0%]]></a:t>
            </a:r>
          </a:p>
        </p:txBody>
      </p:sp>
      <p:sp>
        <p:nvSpPr>
          <p:cNvPr id="235" name=""/>
          <p:cNvSpPr txBox="1"/>
          <p:nvPr/>
        </p:nvSpPr>
        <p:spPr>
          <a:xfrm>
            <a:off x="1905000000" y="82677000000"/>
            <a:ext cx="2857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29]]></a:t>
            </a:r>
          </a:p>
        </p:txBody>
      </p:sp>
      <p:sp>
        <p:nvSpPr>
          <p:cNvPr id="236" name=""/>
          <p:cNvSpPr txBox="1"/>
          <p:nvPr/>
        </p:nvSpPr>
        <p:spPr>
          <a:xfrm>
            <a:off x="4762500000" y="82677000000"/>
            <a:ext cx="76200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IM453]]></a:t>
            </a:r>
          </a:p>
        </p:txBody>
      </p:sp>
      <p:sp>
        <p:nvSpPr>
          <p:cNvPr id="237" name=""/>
          <p:cNvSpPr txBox="1"/>
          <p:nvPr/>
        </p:nvSpPr>
        <p:spPr>
          <a:xfrm>
            <a:off x="12382500000" y="82677000000"/>
            <a:ext cx="16192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IM453]]></a:t>
            </a:r>
          </a:p>
        </p:txBody>
      </p:sp>
      <p:sp>
        <p:nvSpPr>
          <p:cNvPr id="238" name=""/>
          <p:cNvSpPr txBox="1"/>
          <p:nvPr/>
        </p:nvSpPr>
        <p:spPr>
          <a:xfrm>
            <a:off x="28575000000" y="82677000000"/>
            <a:ext cx="6667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CI]]></a:t>
            </a:r>
          </a:p>
        </p:txBody>
      </p:sp>
      <p:sp>
        <p:nvSpPr>
          <p:cNvPr id="239" name=""/>
          <p:cNvSpPr txBox="1"/>
          <p:nvPr/>
        </p:nvSpPr>
        <p:spPr>
          <a:xfrm>
            <a:off x="35242500000" y="82677000000"/>
            <a:ext cx="57150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2G]]></a:t>
            </a:r>
          </a:p>
        </p:txBody>
      </p:sp>
      <p:sp>
        <p:nvSpPr>
          <p:cNvPr id="240" name=""/>
          <p:cNvSpPr txBox="1"/>
          <p:nvPr/>
        </p:nvSpPr>
        <p:spPr>
          <a:xfrm>
            <a:off x="40957500000" y="82677000000"/>
            <a:ext cx="809625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EF4444">
                    <a:alpha val="100.00%"/>
                  </a:srgbClr>
                </a:solidFill>
                <a:latin typeface="Calibri"/>
              </a:rPr>
              <a:t><![CDATA[66.7%]]></a:t>
            </a:r>
          </a:p>
        </p:txBody>
      </p:sp>
      <p:sp>
        <p:nvSpPr>
          <p:cNvPr id="241" name=""/>
          <p:cNvSpPr txBox="1"/>
          <p:nvPr/>
        </p:nvSpPr>
        <p:spPr>
          <a:xfrm>
            <a:off x="49053750000" y="82677000000"/>
            <a:ext cx="16192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Disponibilité TCH]]></a:t>
            </a:r>
          </a:p>
        </p:txBody>
      </p:sp>
      <p:sp>
        <p:nvSpPr>
          <p:cNvPr id="242" name=""/>
          <p:cNvSpPr txBox="1"/>
          <p:nvPr/>
        </p:nvSpPr>
        <p:spPr>
          <a:xfrm>
            <a:off x="65246250000" y="82677000000"/>
            <a:ext cx="6667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0.0%]]></a:t>
            </a:r>
          </a:p>
        </p:txBody>
      </p:sp>
      <p:sp>
        <p:nvSpPr>
          <p:cNvPr id="243" name=""/>
          <p:cNvSpPr txBox="1"/>
          <p:nvPr/>
        </p:nvSpPr>
        <p:spPr>
          <a:xfrm>
            <a:off x="1905000000" y="85248750000"/>
            <a:ext cx="2857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30]]></a:t>
            </a:r>
          </a:p>
        </p:txBody>
      </p:sp>
      <p:sp>
        <p:nvSpPr>
          <p:cNvPr id="244" name=""/>
          <p:cNvSpPr txBox="1"/>
          <p:nvPr/>
        </p:nvSpPr>
        <p:spPr>
          <a:xfrm>
            <a:off x="4762500000" y="85248750000"/>
            <a:ext cx="76200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ET973]]></a:t>
            </a:r>
          </a:p>
        </p:txBody>
      </p:sp>
      <p:sp>
        <p:nvSpPr>
          <p:cNvPr id="245" name=""/>
          <p:cNvSpPr txBox="1"/>
          <p:nvPr/>
        </p:nvSpPr>
        <p:spPr>
          <a:xfrm>
            <a:off x="12382500000" y="85248750000"/>
            <a:ext cx="16192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PB_ABATTOIR]]></a:t>
            </a:r>
          </a:p>
        </p:txBody>
      </p:sp>
      <p:sp>
        <p:nvSpPr>
          <p:cNvPr id="246" name=""/>
          <p:cNvSpPr txBox="1"/>
          <p:nvPr/>
        </p:nvSpPr>
        <p:spPr>
          <a:xfrm>
            <a:off x="28575000000" y="85248750000"/>
            <a:ext cx="6667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CI]]></a:t>
            </a:r>
          </a:p>
        </p:txBody>
      </p:sp>
      <p:sp>
        <p:nvSpPr>
          <p:cNvPr id="247" name=""/>
          <p:cNvSpPr txBox="1"/>
          <p:nvPr/>
        </p:nvSpPr>
        <p:spPr>
          <a:xfrm>
            <a:off x="35242500000" y="85248750000"/>
            <a:ext cx="57150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2G]]></a:t>
            </a:r>
          </a:p>
        </p:txBody>
      </p:sp>
      <p:sp>
        <p:nvSpPr>
          <p:cNvPr id="248" name=""/>
          <p:cNvSpPr txBox="1"/>
          <p:nvPr/>
        </p:nvSpPr>
        <p:spPr>
          <a:xfrm>
            <a:off x="40957500000" y="85248750000"/>
            <a:ext cx="809625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EF4444">
                    <a:alpha val="100.00%"/>
                  </a:srgbClr>
                </a:solidFill>
                <a:latin typeface="Calibri"/>
              </a:rPr>
              <a:t><![CDATA[67.9%]]></a:t>
            </a:r>
          </a:p>
        </p:txBody>
      </p:sp>
      <p:sp>
        <p:nvSpPr>
          <p:cNvPr id="249" name=""/>
          <p:cNvSpPr txBox="1"/>
          <p:nvPr/>
        </p:nvSpPr>
        <p:spPr>
          <a:xfrm>
            <a:off x="49053750000" y="85248750000"/>
            <a:ext cx="16192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Disponibilité TCH]]></a:t>
            </a:r>
          </a:p>
        </p:txBody>
      </p:sp>
      <p:sp>
        <p:nvSpPr>
          <p:cNvPr id="250" name=""/>
          <p:cNvSpPr txBox="1"/>
          <p:nvPr/>
        </p:nvSpPr>
        <p:spPr>
          <a:xfrm>
            <a:off x="65246250000" y="85248750000"/>
            <a:ext cx="6667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9.3%]]></a:t>
            </a:r>
          </a:p>
        </p:txBody>
      </p:sp>
      <p:sp>
        <p:nvSpPr>
          <p:cNvPr id="251" name=""/>
          <p:cNvSpPr txBox="1"/>
          <p:nvPr/>
        </p:nvSpPr>
        <p:spPr>
          <a:xfrm>
            <a:off x="1905000000" y="87820500000"/>
            <a:ext cx="2857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31]]></a:t>
            </a:r>
          </a:p>
        </p:txBody>
      </p:sp>
      <p:sp>
        <p:nvSpPr>
          <p:cNvPr id="252" name=""/>
          <p:cNvSpPr txBox="1"/>
          <p:nvPr/>
        </p:nvSpPr>
        <p:spPr>
          <a:xfrm>
            <a:off x="4762500000" y="87820500000"/>
            <a:ext cx="76200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ET178]]></a:t>
            </a:r>
          </a:p>
        </p:txBody>
      </p:sp>
      <p:sp>
        <p:nvSpPr>
          <p:cNvPr id="253" name=""/>
          <p:cNvSpPr txBox="1"/>
          <p:nvPr/>
        </p:nvSpPr>
        <p:spPr>
          <a:xfrm>
            <a:off x="12382500000" y="87820500000"/>
            <a:ext cx="16192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PARA]]></a:t>
            </a:r>
          </a:p>
        </p:txBody>
      </p:sp>
      <p:sp>
        <p:nvSpPr>
          <p:cNvPr id="254" name=""/>
          <p:cNvSpPr txBox="1"/>
          <p:nvPr/>
        </p:nvSpPr>
        <p:spPr>
          <a:xfrm>
            <a:off x="28575000000" y="87820500000"/>
            <a:ext cx="6667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CI]]></a:t>
            </a:r>
          </a:p>
        </p:txBody>
      </p:sp>
      <p:sp>
        <p:nvSpPr>
          <p:cNvPr id="255" name=""/>
          <p:cNvSpPr txBox="1"/>
          <p:nvPr/>
        </p:nvSpPr>
        <p:spPr>
          <a:xfrm>
            <a:off x="35242500000" y="87820500000"/>
            <a:ext cx="57150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2G]]></a:t>
            </a:r>
          </a:p>
        </p:txBody>
      </p:sp>
      <p:sp>
        <p:nvSpPr>
          <p:cNvPr id="256" name=""/>
          <p:cNvSpPr txBox="1"/>
          <p:nvPr/>
        </p:nvSpPr>
        <p:spPr>
          <a:xfrm>
            <a:off x="40957500000" y="87820500000"/>
            <a:ext cx="809625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EF4444">
                    <a:alpha val="100.00%"/>
                  </a:srgbClr>
                </a:solidFill>
                <a:latin typeface="Calibri"/>
              </a:rPr>
              <a:t><![CDATA[70.5%]]></a:t>
            </a:r>
          </a:p>
        </p:txBody>
      </p:sp>
      <p:sp>
        <p:nvSpPr>
          <p:cNvPr id="257" name=""/>
          <p:cNvSpPr txBox="1"/>
          <p:nvPr/>
        </p:nvSpPr>
        <p:spPr>
          <a:xfrm>
            <a:off x="49053750000" y="87820500000"/>
            <a:ext cx="16192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Disponibilité TCH]]></a:t>
            </a:r>
          </a:p>
        </p:txBody>
      </p:sp>
      <p:sp>
        <p:nvSpPr>
          <p:cNvPr id="258" name=""/>
          <p:cNvSpPr txBox="1"/>
          <p:nvPr/>
        </p:nvSpPr>
        <p:spPr>
          <a:xfrm>
            <a:off x="65246250000" y="87820500000"/>
            <a:ext cx="6667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21.7%]]></a:t>
            </a:r>
          </a:p>
        </p:txBody>
      </p:sp>
      <p:sp>
        <p:nvSpPr>
          <p:cNvPr id="259" name=""/>
          <p:cNvSpPr txBox="1"/>
          <p:nvPr/>
        </p:nvSpPr>
        <p:spPr>
          <a:xfrm>
            <a:off x="1905000000" y="90392250000"/>
            <a:ext cx="2857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32]]></a:t>
            </a:r>
          </a:p>
        </p:txBody>
      </p:sp>
      <p:sp>
        <p:nvSpPr>
          <p:cNvPr id="260" name=""/>
          <p:cNvSpPr txBox="1"/>
          <p:nvPr/>
        </p:nvSpPr>
        <p:spPr>
          <a:xfrm>
            <a:off x="4762500000" y="90392250000"/>
            <a:ext cx="76200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AC694]]></a:t>
            </a:r>
          </a:p>
        </p:txBody>
      </p:sp>
      <p:sp>
        <p:nvSpPr>
          <p:cNvPr id="261" name=""/>
          <p:cNvSpPr txBox="1"/>
          <p:nvPr/>
        </p:nvSpPr>
        <p:spPr>
          <a:xfrm>
            <a:off x="12382500000" y="90392250000"/>
            <a:ext cx="16192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NAMBANAKAHA]]></a:t>
            </a:r>
          </a:p>
        </p:txBody>
      </p:sp>
      <p:sp>
        <p:nvSpPr>
          <p:cNvPr id="262" name=""/>
          <p:cNvSpPr txBox="1"/>
          <p:nvPr/>
        </p:nvSpPr>
        <p:spPr>
          <a:xfrm>
            <a:off x="28575000000" y="90392250000"/>
            <a:ext cx="6667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CI]]></a:t>
            </a:r>
          </a:p>
        </p:txBody>
      </p:sp>
      <p:sp>
        <p:nvSpPr>
          <p:cNvPr id="263" name=""/>
          <p:cNvSpPr txBox="1"/>
          <p:nvPr/>
        </p:nvSpPr>
        <p:spPr>
          <a:xfrm>
            <a:off x="35242500000" y="90392250000"/>
            <a:ext cx="57150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2G]]></a:t>
            </a:r>
          </a:p>
        </p:txBody>
      </p:sp>
      <p:sp>
        <p:nvSpPr>
          <p:cNvPr id="264" name=""/>
          <p:cNvSpPr txBox="1"/>
          <p:nvPr/>
        </p:nvSpPr>
        <p:spPr>
          <a:xfrm>
            <a:off x="40957500000" y="90392250000"/>
            <a:ext cx="809625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EF4444">
                    <a:alpha val="100.00%"/>
                  </a:srgbClr>
                </a:solidFill>
                <a:latin typeface="Calibri"/>
              </a:rPr>
              <a:t><![CDATA[71.1%]]></a:t>
            </a:r>
          </a:p>
        </p:txBody>
      </p:sp>
      <p:sp>
        <p:nvSpPr>
          <p:cNvPr id="265" name=""/>
          <p:cNvSpPr txBox="1"/>
          <p:nvPr/>
        </p:nvSpPr>
        <p:spPr>
          <a:xfrm>
            <a:off x="49053750000" y="90392250000"/>
            <a:ext cx="16192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Succès Handover]]></a:t>
            </a:r>
          </a:p>
        </p:txBody>
      </p:sp>
      <p:sp>
        <p:nvSpPr>
          <p:cNvPr id="266" name=""/>
          <p:cNvSpPr txBox="1"/>
          <p:nvPr/>
        </p:nvSpPr>
        <p:spPr>
          <a:xfrm>
            <a:off x="65246250000" y="90392250000"/>
            <a:ext cx="6667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13.0%]]></a:t>
            </a:r>
          </a:p>
        </p:txBody>
      </p:sp>
      <p:sp>
        <p:nvSpPr>
          <p:cNvPr id="267" name=""/>
          <p:cNvSpPr txBox="1"/>
          <p:nvPr/>
        </p:nvSpPr>
        <p:spPr>
          <a:xfrm>
            <a:off x="1905000000" y="92964000000"/>
            <a:ext cx="2857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33]]></a:t>
            </a:r>
          </a:p>
        </p:txBody>
      </p:sp>
      <p:sp>
        <p:nvSpPr>
          <p:cNvPr id="268" name=""/>
          <p:cNvSpPr txBox="1"/>
          <p:nvPr/>
        </p:nvSpPr>
        <p:spPr>
          <a:xfrm>
            <a:off x="4762500000" y="92964000000"/>
            <a:ext cx="76200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ET925]]></a:t>
            </a:r>
          </a:p>
        </p:txBody>
      </p:sp>
      <p:sp>
        <p:nvSpPr>
          <p:cNvPr id="269" name=""/>
          <p:cNvSpPr txBox="1"/>
          <p:nvPr/>
        </p:nvSpPr>
        <p:spPr>
          <a:xfrm>
            <a:off x="12382500000" y="92964000000"/>
            <a:ext cx="16192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SOKOURALA]]></a:t>
            </a:r>
          </a:p>
        </p:txBody>
      </p:sp>
      <p:sp>
        <p:nvSpPr>
          <p:cNvPr id="270" name=""/>
          <p:cNvSpPr txBox="1"/>
          <p:nvPr/>
        </p:nvSpPr>
        <p:spPr>
          <a:xfrm>
            <a:off x="28575000000" y="92964000000"/>
            <a:ext cx="6667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CI]]></a:t>
            </a:r>
          </a:p>
        </p:txBody>
      </p:sp>
      <p:sp>
        <p:nvSpPr>
          <p:cNvPr id="271" name=""/>
          <p:cNvSpPr txBox="1"/>
          <p:nvPr/>
        </p:nvSpPr>
        <p:spPr>
          <a:xfrm>
            <a:off x="35242500000" y="92964000000"/>
            <a:ext cx="57150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4G]]></a:t>
            </a:r>
          </a:p>
        </p:txBody>
      </p:sp>
      <p:sp>
        <p:nvSpPr>
          <p:cNvPr id="272" name=""/>
          <p:cNvSpPr txBox="1"/>
          <p:nvPr/>
        </p:nvSpPr>
        <p:spPr>
          <a:xfrm>
            <a:off x="40957500000" y="92964000000"/>
            <a:ext cx="809625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EF4444">
                    <a:alpha val="100.00%"/>
                  </a:srgbClr>
                </a:solidFill>
                <a:latin typeface="Calibri"/>
              </a:rPr>
              <a:t><![CDATA[71.8%]]></a:t>
            </a:r>
          </a:p>
        </p:txBody>
      </p:sp>
      <p:sp>
        <p:nvSpPr>
          <p:cNvPr id="273" name=""/>
          <p:cNvSpPr txBox="1"/>
          <p:nvPr/>
        </p:nvSpPr>
        <p:spPr>
          <a:xfrm>
            <a:off x="49053750000" y="92964000000"/>
            <a:ext cx="16192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HO Inter-freq]]></a:t>
            </a:r>
          </a:p>
        </p:txBody>
      </p:sp>
      <p:sp>
        <p:nvSpPr>
          <p:cNvPr id="274" name=""/>
          <p:cNvSpPr txBox="1"/>
          <p:nvPr/>
        </p:nvSpPr>
        <p:spPr>
          <a:xfrm>
            <a:off x="65246250000" y="92964000000"/>
            <a:ext cx="6667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28.6%]]></a:t>
            </a:r>
          </a:p>
        </p:txBody>
      </p:sp>
      <p:sp>
        <p:nvSpPr>
          <p:cNvPr id="275" name=""/>
          <p:cNvSpPr txBox="1"/>
          <p:nvPr/>
        </p:nvSpPr>
        <p:spPr>
          <a:xfrm>
            <a:off x="1905000000" y="95535750000"/>
            <a:ext cx="2857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34]]></a:t>
            </a:r>
          </a:p>
        </p:txBody>
      </p:sp>
      <p:sp>
        <p:nvSpPr>
          <p:cNvPr id="276" name=""/>
          <p:cNvSpPr txBox="1"/>
          <p:nvPr/>
        </p:nvSpPr>
        <p:spPr>
          <a:xfrm>
            <a:off x="4762500000" y="95535750000"/>
            <a:ext cx="76200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IM390]]></a:t>
            </a:r>
          </a:p>
        </p:txBody>
      </p:sp>
      <p:sp>
        <p:nvSpPr>
          <p:cNvPr id="277" name=""/>
          <p:cNvSpPr txBox="1"/>
          <p:nvPr/>
        </p:nvSpPr>
        <p:spPr>
          <a:xfrm>
            <a:off x="12382500000" y="95535750000"/>
            <a:ext cx="16192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RURAL_KROFOINSOU]]></a:t>
            </a:r>
          </a:p>
        </p:txBody>
      </p:sp>
      <p:sp>
        <p:nvSpPr>
          <p:cNvPr id="278" name=""/>
          <p:cNvSpPr txBox="1"/>
          <p:nvPr/>
        </p:nvSpPr>
        <p:spPr>
          <a:xfrm>
            <a:off x="28575000000" y="95535750000"/>
            <a:ext cx="6667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CI]]></a:t>
            </a:r>
          </a:p>
        </p:txBody>
      </p:sp>
      <p:sp>
        <p:nvSpPr>
          <p:cNvPr id="279" name=""/>
          <p:cNvSpPr txBox="1"/>
          <p:nvPr/>
        </p:nvSpPr>
        <p:spPr>
          <a:xfrm>
            <a:off x="35242500000" y="95535750000"/>
            <a:ext cx="57150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2G]]></a:t>
            </a:r>
          </a:p>
        </p:txBody>
      </p:sp>
      <p:sp>
        <p:nvSpPr>
          <p:cNvPr id="280" name=""/>
          <p:cNvSpPr txBox="1"/>
          <p:nvPr/>
        </p:nvSpPr>
        <p:spPr>
          <a:xfrm>
            <a:off x="40957500000" y="95535750000"/>
            <a:ext cx="809625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EF4444">
                    <a:alpha val="100.00%"/>
                  </a:srgbClr>
                </a:solidFill>
                <a:latin typeface="Calibri"/>
              </a:rPr>
              <a:t><![CDATA[72.8%]]></a:t>
            </a:r>
          </a:p>
        </p:txBody>
      </p:sp>
      <p:sp>
        <p:nvSpPr>
          <p:cNvPr id="281" name=""/>
          <p:cNvSpPr txBox="1"/>
          <p:nvPr/>
        </p:nvSpPr>
        <p:spPr>
          <a:xfrm>
            <a:off x="49053750000" y="95535750000"/>
            <a:ext cx="16192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Succès Handover]]></a:t>
            </a:r>
          </a:p>
        </p:txBody>
      </p:sp>
      <p:sp>
        <p:nvSpPr>
          <p:cNvPr id="282" name=""/>
          <p:cNvSpPr txBox="1"/>
          <p:nvPr/>
        </p:nvSpPr>
        <p:spPr>
          <a:xfrm>
            <a:off x="65246250000" y="95535750000"/>
            <a:ext cx="6667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18.0%]]></a:t>
            </a:r>
          </a:p>
        </p:txBody>
      </p:sp>
      <p:sp>
        <p:nvSpPr>
          <p:cNvPr id="283" name=""/>
          <p:cNvSpPr txBox="1"/>
          <p:nvPr/>
        </p:nvSpPr>
        <p:spPr>
          <a:xfrm>
            <a:off x="1905000000" y="98107500000"/>
            <a:ext cx="2857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35]]></a:t>
            </a:r>
          </a:p>
        </p:txBody>
      </p:sp>
      <p:sp>
        <p:nvSpPr>
          <p:cNvPr id="284" name=""/>
          <p:cNvSpPr txBox="1"/>
          <p:nvPr/>
        </p:nvSpPr>
        <p:spPr>
          <a:xfrm>
            <a:off x="4762500000" y="98107500000"/>
            <a:ext cx="76200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IM362]]></a:t>
            </a:r>
          </a:p>
        </p:txBody>
      </p:sp>
      <p:sp>
        <p:nvSpPr>
          <p:cNvPr id="285" name=""/>
          <p:cNvSpPr txBox="1"/>
          <p:nvPr/>
        </p:nvSpPr>
        <p:spPr>
          <a:xfrm>
            <a:off x="12382500000" y="98107500000"/>
            <a:ext cx="16192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IM362]]></a:t>
            </a:r>
          </a:p>
        </p:txBody>
      </p:sp>
      <p:sp>
        <p:nvSpPr>
          <p:cNvPr id="286" name=""/>
          <p:cNvSpPr txBox="1"/>
          <p:nvPr/>
        </p:nvSpPr>
        <p:spPr>
          <a:xfrm>
            <a:off x="28575000000" y="98107500000"/>
            <a:ext cx="6667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CI]]></a:t>
            </a:r>
          </a:p>
        </p:txBody>
      </p:sp>
      <p:sp>
        <p:nvSpPr>
          <p:cNvPr id="287" name=""/>
          <p:cNvSpPr txBox="1"/>
          <p:nvPr/>
        </p:nvSpPr>
        <p:spPr>
          <a:xfrm>
            <a:off x="35242500000" y="98107500000"/>
            <a:ext cx="57150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2G]]></a:t>
            </a:r>
          </a:p>
        </p:txBody>
      </p:sp>
      <p:sp>
        <p:nvSpPr>
          <p:cNvPr id="288" name=""/>
          <p:cNvSpPr txBox="1"/>
          <p:nvPr/>
        </p:nvSpPr>
        <p:spPr>
          <a:xfrm>
            <a:off x="40957500000" y="98107500000"/>
            <a:ext cx="809625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EF4444">
                    <a:alpha val="100.00%"/>
                  </a:srgbClr>
                </a:solidFill>
                <a:latin typeface="Calibri"/>
              </a:rPr>
              <a:t><![CDATA[73.5%]]></a:t>
            </a:r>
          </a:p>
        </p:txBody>
      </p:sp>
      <p:sp>
        <p:nvSpPr>
          <p:cNvPr id="289" name=""/>
          <p:cNvSpPr txBox="1"/>
          <p:nvPr/>
        </p:nvSpPr>
        <p:spPr>
          <a:xfrm>
            <a:off x="49053750000" y="98107500000"/>
            <a:ext cx="16192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Disponibilité TCH]]></a:t>
            </a:r>
          </a:p>
        </p:txBody>
      </p:sp>
      <p:sp>
        <p:nvSpPr>
          <p:cNvPr id="290" name=""/>
          <p:cNvSpPr txBox="1"/>
          <p:nvPr/>
        </p:nvSpPr>
        <p:spPr>
          <a:xfrm>
            <a:off x="65246250000" y="98107500000"/>
            <a:ext cx="6667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21.1%]]>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eme92">
  <a:themeElements>
    <a:clrScheme name="Theme92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Theme92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Theme92">
      <a:fillStyleLst>
        <a:solidFill>
          <a:schemeClr val="phClr"/>
        </a:solidFill>
        <a:gradFill rotWithShape="1">
          <a:gsLst>
            <a:gs pos="0%">
              <a:schemeClr val="phClr">
                <a:tint val="50%"/>
                <a:satMod val="300%"/>
              </a:schemeClr>
            </a:gs>
            <a:gs pos="35%">
              <a:schemeClr val="phClr">
                <a:tint val="37%"/>
                <a:satMod val="300%"/>
              </a:schemeClr>
            </a:gs>
            <a:gs pos="100%">
              <a:schemeClr val="phClr">
                <a:tint val="15%"/>
                <a:satMod val="350%"/>
              </a:schemeClr>
            </a:gs>
          </a:gsLst>
          <a:lin ang="16200000" scaled="1"/>
        </a:gradFill>
        <a:gradFill rotWithShape="1">
          <a:gsLst>
            <a:gs pos="0%">
              <a:schemeClr val="phClr">
                <a:shade val="51%"/>
                <a:satMod val="130%"/>
              </a:schemeClr>
            </a:gs>
            <a:gs pos="80%">
              <a:schemeClr val="phClr">
                <a:shade val="93%"/>
                <a:satMod val="130%"/>
              </a:schemeClr>
            </a:gs>
            <a:gs pos="100%">
              <a:schemeClr val="phClr">
                <a:shade val="94%"/>
                <a:satMod val="135%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%"/>
              <a:satMod val="105%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%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%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%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h="25400" w="63500"/>
          </a:sp3d>
        </a:effectStyle>
      </a:effectStyleLst>
      <a:bgFillStyleLst>
        <a:solidFill>
          <a:schemeClr val="phClr"/>
        </a:solidFill>
        <a:gradFill rotWithShape="1">
          <a:gsLst>
            <a:gs pos="0%">
              <a:schemeClr val="phClr">
                <a:tint val="40%"/>
                <a:satMod val="350%"/>
              </a:schemeClr>
            </a:gs>
            <a:gs pos="40%">
              <a:schemeClr val="phClr">
                <a:tint val="45%"/>
                <a:shade val="99%"/>
                <a:satMod val="350%"/>
              </a:schemeClr>
            </a:gs>
            <a:gs pos="100%">
              <a:schemeClr val="phClr">
                <a:shade val="20%"/>
                <a:satMod val="255%"/>
              </a:schemeClr>
            </a:gs>
          </a:gsLst>
          <a:path path="circle">
            <a:fillToRect b="180%" l="50%" r="50%" t="-80%"/>
          </a:path>
        </a:gradFill>
        <a:gradFill rotWithShape="1">
          <a:gsLst>
            <a:gs pos="0%">
              <a:schemeClr val="phClr">
                <a:tint val="80%"/>
                <a:satMod val="300%"/>
              </a:schemeClr>
            </a:gs>
            <a:gs pos="100%">
              <a:schemeClr val="phClr">
                <a:shade val="30%"/>
                <a:satMod val="200%"/>
              </a:schemeClr>
            </a:gs>
          </a:gsLst>
          <a:path path="circle">
            <a:fillToRect b="50%" l="50%" r="50%" t="50%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2</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" baseType="lpstr">
      <vt:lpstr>Office Theme</vt:lpstr>
    </vt:vector>
  </TitlesOfParts>
  <Company>Microsoft Corporation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NetInsight 360</dc:creator>
  <cp:lastModifiedBy>Unknown Creator</cp:lastModifiedBy>
  <dcterms:created xsi:type="dcterms:W3CDTF">2026-03-31T13:33:56Z</dcterms:created>
  <dcterms:modified xsi:type="dcterms:W3CDTF">2026-03-31T13:33:56Z</dcterms:modified>
  <dc:title>Rapport KPIs RAN — 31/03/2026</dc:title>
  <dc:description/>
  <dc:subject/>
  <cp:keywords/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